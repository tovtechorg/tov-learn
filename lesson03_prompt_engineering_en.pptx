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important lesson in Module 0. Every automation, chatbot, and agent we build afterward sits on top of prompts.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Long lesson — make sure to include breaks between sections.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model, two completely different results. The only difference? The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R-T-C-F: four questions. Who? What? Why? How? Answer all four and you'll get a great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 Mindset = required for anyone building AI products.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Zero-Shot + RTCF covers 80% of cases. The remaining 20% — that's the toolkit.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Few-Shot: show the AI what you expect. Like giving a new employee worked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CoT = one sentence added. ToT = reserve for strategy-level decisions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Self-Consistency: if 3 answers agree = high confidence. If they diverge = investigate further.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= the course cheat sheet. Save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 Prompt = the contract with the AI. Every product starts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Extended Thinking → Adaptive Thinking. New name, better capabilities. The 2026 standard.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Engineering = one sentence. Context Engineering = the entire environment. We build on this in Modules 2 and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Lost in the Middle: real, confirmed research. Prompt positioning is not cosmetic — it's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library = the Module 0 deliverable. 10 prompts, RTCF, recommended model, sample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0.3 — the most important lesson in Module 0. Everything from here is built on prompts.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6C63FF">
              <a:alpha val="18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474720"/>
            <a:ext cx="3200400" cy="32004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 Course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Effective Prompts — The Art and Science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474720" y="2834640"/>
            <a:ext cx="2194560" cy="475488"/>
          </a:xfrm>
          <a:prstGeom prst="roundRect">
            <a:avLst>
              <a:gd name="adj" fmla="val 26923"/>
            </a:avLst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283464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0.3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49300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Academic Hours  |  The Longest Lesson in Module Zero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201168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7635240" y="2011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0.3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Sections  |  4 Academic Hours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83210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188720"/>
            <a:ext cx="384048" cy="38404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8992" y="1188720"/>
            <a:ext cx="7571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prompt is and why it's the most important skill in this course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1737360"/>
            <a:ext cx="83210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810512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8992" y="1810512"/>
            <a:ext cx="7571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RTCF Formula + Casual vs Production Prompting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2359152"/>
            <a:ext cx="83210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2432304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8992" y="2432304"/>
            <a:ext cx="7571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Techniques — from Zero-Shot to Self-Consistency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" y="2980944"/>
            <a:ext cx="83210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05409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" y="3054096"/>
            <a:ext cx="7571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— the DNA of every AI product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11480" y="3602736"/>
            <a:ext cx="83210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0352" y="367588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8992" y="3675888"/>
            <a:ext cx="7571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Thinking + Context Engineering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11480" y="4224528"/>
            <a:ext cx="83210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30352" y="4297680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8992" y="4297680"/>
            <a:ext cx="7571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Management + Building your Personal Prompt Library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201168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7635240" y="2011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0.3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Is Everything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— completely different results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207008"/>
            <a:ext cx="475488" cy="47548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07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8992" y="1207008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A: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1572768"/>
            <a:ext cx="3621024" cy="658368"/>
          </a:xfrm>
          <a:prstGeom prst="roundRect">
            <a:avLst>
              <a:gd name="adj" fmla="val 11111"/>
            </a:avLst>
          </a:prstGeom>
          <a:solidFill>
            <a:srgbClr val="FEECEC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572768"/>
            <a:ext cx="36210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me an email."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286000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generic, unusable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115568"/>
            <a:ext cx="4069080" cy="2395728"/>
          </a:xfrm>
          <a:prstGeom prst="roundRect">
            <a:avLst>
              <a:gd name="adj" fmla="val 3817"/>
            </a:avLst>
          </a:prstGeom>
          <a:solidFill>
            <a:srgbClr val="ECFDF5"/>
          </a:solidFill>
          <a:ln/>
          <a:effectLst>
            <a:outerShdw sx="100000" sy="100000" kx="0" ky="0" algn="bl" rotWithShape="0" blurRad="152400" dist="508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65008" y="1207008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65008" y="1207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120700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B: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627632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 are a marketing manager at a B2B SaaS company.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011680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 a follow-up email to a prospect we met at a conference.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395728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Tone: professional but warm. Length: 5-7 lines.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779776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Include one clear call to action.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182112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precise, useful, ready to send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3675888"/>
            <a:ext cx="8321040" cy="1188720"/>
          </a:xfrm>
          <a:prstGeom prst="roundRect">
            <a:avLst>
              <a:gd name="adj" fmla="val 9231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52400" dist="508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0352" y="3858768"/>
            <a:ext cx="457200" cy="45720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5568" y="3785616"/>
            <a:ext cx="7406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Research Finding: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15568" y="4133088"/>
            <a:ext cx="7406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majority of AI failures stem from ambiguity in the prompt — not from model limitations. A clear structure outperforms a clever phrase every time.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201168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7635240" y="2011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0.3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RTCF Formula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structure that works in almost every situation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83210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261872"/>
            <a:ext cx="640080" cy="512064"/>
          </a:xfrm>
          <a:prstGeom prst="roundRect">
            <a:avLst>
              <a:gd name="adj" fmla="val 17857"/>
            </a:avLst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26187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16736" y="122529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— Who is the AI?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1225296"/>
            <a:ext cx="389534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are a digital marketing expert with 10 years of e-commerce experience."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029968"/>
            <a:ext cx="83210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30352" y="2176272"/>
            <a:ext cx="640080" cy="512064"/>
          </a:xfrm>
          <a:prstGeom prst="roundRect">
            <a:avLst>
              <a:gd name="adj" fmla="val 17857"/>
            </a:avLst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217627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16736" y="213969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— What should it do?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2139696"/>
            <a:ext cx="389534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three variations of a promotional email."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944368"/>
            <a:ext cx="83210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0352" y="3090672"/>
            <a:ext cx="640080" cy="512064"/>
          </a:xfrm>
          <a:prstGeom prst="roundRect">
            <a:avLst>
              <a:gd name="adj" fmla="val 17857"/>
            </a:avLst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09067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16736" y="305409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— What background?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63440" y="3054096"/>
            <a:ext cx="389534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"Online jewelry store, target audience: women 25-45."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858768"/>
            <a:ext cx="83210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0352" y="4005072"/>
            <a:ext cx="640080" cy="512064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400507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316736" y="396849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— How to present output?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63440" y="3968496"/>
            <a:ext cx="389534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"Each variation: max 5 lines + a subject line."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4800600"/>
            <a:ext cx="8321040" cy="292608"/>
          </a:xfrm>
          <a:prstGeom prst="roundRect">
            <a:avLst>
              <a:gd name="adj" fmla="val 18750"/>
            </a:avLst>
          </a:prstGeom>
          <a:solidFill>
            <a:srgbClr val="EEEEFF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8006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Tip: Optimal length 150-300 words  |  Over 3,000 tokens = quality drops  |  Aggressive language hurts performance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201168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7635240" y="2011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0.3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vs Production Prompting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completely different disciplines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3977640" cy="1572768"/>
          </a:xfrm>
          <a:prstGeom prst="roundRect">
            <a:avLst>
              <a:gd name="adj" fmla="val 5814"/>
            </a:avLst>
          </a:prstGeom>
          <a:solidFill>
            <a:srgbClr val="E0FA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261872"/>
            <a:ext cx="475488" cy="4754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" y="1261872"/>
            <a:ext cx="3218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Prompting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5568" y="170078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Personal use — GPT, Claude, Gemini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5568" y="193852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Made a mistake? You're there to fix 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15568" y="217627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Conversational and forgiving — low stakes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15568" y="2414016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Covers 80%+ of everyday AI use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115568"/>
            <a:ext cx="4023360" cy="1572768"/>
          </a:xfrm>
          <a:prstGeom prst="roundRect">
            <a:avLst>
              <a:gd name="adj" fmla="val 5814"/>
            </a:avLst>
          </a:prstGeom>
          <a:solidFill>
            <a:srgbClr val="FFFBEB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65008" y="1261872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65008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92040" y="126187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Prompting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92040" y="170078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 of a system — API, bot, automation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193852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Runs thousands of times/day, no human watching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17627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bad output at scale = a real problem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241401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Requires precision and discipline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2798064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Rules for Production Prompting: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11480" y="3182112"/>
            <a:ext cx="385876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" y="3227832"/>
            <a:ext cx="384048" cy="38404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60120" y="3200400"/>
            <a:ext cx="3182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341985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change with a changelog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07408" y="3182112"/>
            <a:ext cx="385876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80560" y="3227832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56048" y="3200400"/>
            <a:ext cx="3182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First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56048" y="341985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20-50 examples before going live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11480" y="3749040"/>
            <a:ext cx="385876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" y="3794760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60120" y="3767328"/>
            <a:ext cx="3182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Output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60120" y="398678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— never free text in production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407408" y="3749040"/>
            <a:ext cx="385876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480560" y="379476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8056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956048" y="3767328"/>
            <a:ext cx="3182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956048" y="398678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fallback for every unexpected response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11480" y="4315968"/>
            <a:ext cx="385876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4632" y="436168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60120" y="4334256"/>
            <a:ext cx="3182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Cost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60120" y="455371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× price × call volume = monthly cost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407408" y="4315968"/>
            <a:ext cx="385876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480560" y="4361688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80560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956048" y="4334256"/>
            <a:ext cx="3182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Monitor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956048" y="455371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update — track error rates over time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201168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7635240" y="2011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0.3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Techniques — Simplest to Most Advanced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builds on the last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3858768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" y="1435608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9848" y="1225296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69848" y="1591056"/>
            <a:ext cx="3090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examples — straight to the task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69848" y="1901952"/>
            <a:ext cx="2286000" cy="219456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1069848" y="190195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real cases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07408" y="1115568"/>
            <a:ext cx="3858768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80560" y="1435608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65776" y="1225296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65776" y="1591056"/>
            <a:ext cx="3090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diverse examples before the request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65776" y="1901952"/>
            <a:ext cx="2286000" cy="219456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/>
        </p:spPr>
      </p:sp>
      <p:sp>
        <p:nvSpPr>
          <p:cNvPr id="19" name="Text 17"/>
          <p:cNvSpPr/>
          <p:nvPr/>
        </p:nvSpPr>
        <p:spPr>
          <a:xfrm>
            <a:off x="5065776" y="190195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ROI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2395728"/>
            <a:ext cx="3858768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" y="2715768"/>
            <a:ext cx="457200" cy="45720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69848" y="2505456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Thought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69848" y="2871216"/>
            <a:ext cx="3090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reasoning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69848" y="3182112"/>
            <a:ext cx="2286000" cy="219456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/>
        </p:spPr>
      </p:sp>
      <p:sp>
        <p:nvSpPr>
          <p:cNvPr id="26" name="Text 24"/>
          <p:cNvSpPr/>
          <p:nvPr/>
        </p:nvSpPr>
        <p:spPr>
          <a:xfrm>
            <a:off x="1069848" y="318211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+19% accuracy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07408" y="2395728"/>
            <a:ext cx="3858768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80560" y="2715768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65776" y="2505456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of Thought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065776" y="2871216"/>
            <a:ext cx="3090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parallel reasoning paths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65776" y="3182112"/>
            <a:ext cx="2286000" cy="219456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/>
        </p:spPr>
      </p:sp>
      <p:sp>
        <p:nvSpPr>
          <p:cNvPr id="33" name="Text 31"/>
          <p:cNvSpPr/>
          <p:nvPr/>
        </p:nvSpPr>
        <p:spPr>
          <a:xfrm>
            <a:off x="5065776" y="318211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decisions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1480" y="3675888"/>
            <a:ext cx="3858768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" y="399592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69848" y="3785616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Prompting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69848" y="4151376"/>
            <a:ext cx="3090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detailed role for the AI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69848" y="4462272"/>
            <a:ext cx="2286000" cy="219456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/>
        </p:spPr>
      </p:sp>
      <p:sp>
        <p:nvSpPr>
          <p:cNvPr id="40" name="Text 38"/>
          <p:cNvSpPr/>
          <p:nvPr/>
        </p:nvSpPr>
        <p:spPr>
          <a:xfrm>
            <a:off x="1069848" y="446227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407408" y="3675888"/>
            <a:ext cx="3858768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480560" y="3995928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8056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65776" y="3785616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5065776" y="4151376"/>
            <a:ext cx="3090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answers + comparison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065776" y="4462272"/>
            <a:ext cx="2286000" cy="219456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/>
        </p:spPr>
      </p:sp>
      <p:sp>
        <p:nvSpPr>
          <p:cNvPr id="47" name="Text 45"/>
          <p:cNvSpPr/>
          <p:nvPr/>
        </p:nvSpPr>
        <p:spPr>
          <a:xfrm>
            <a:off x="5065776" y="446227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uncertainty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201168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7635240" y="2011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0.3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and Few-Shot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foundational techniques — often the best ones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3977640" cy="3675888"/>
          </a:xfrm>
          <a:prstGeom prst="roundRect">
            <a:avLst>
              <a:gd name="adj" fmla="val 2985"/>
            </a:avLst>
          </a:prstGeom>
          <a:solidFill>
            <a:srgbClr val="ECFDF5"/>
          </a:solidFill>
          <a:ln/>
          <a:effectLst>
            <a:outerShdw sx="100000" sy="100000" kx="0" ky="0" algn="bl" rotWithShape="0" blurRad="152400" dist="508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261872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" y="1261872"/>
            <a:ext cx="3218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1664208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examples — always start here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1993392"/>
            <a:ext cx="3621024" cy="658368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029968"/>
            <a:ext cx="34930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"Classify the following text as positive, negative, or neutral: 'The pizza was delicious but the service was slow.'"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798064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Covers 80% of real-world use cases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3108960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Classification, translation, summarization, writing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419856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Cheap — saves tokens and cost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730752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Always try Zero-Shot first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115568"/>
            <a:ext cx="4069080" cy="3675888"/>
          </a:xfrm>
          <a:prstGeom prst="roundRect">
            <a:avLst>
              <a:gd name="adj" fmla="val 2985"/>
            </a:avLst>
          </a:prstGeom>
          <a:solidFill>
            <a:srgbClr val="E0FAFF"/>
          </a:solidFill>
          <a:ln/>
          <a:effectLst>
            <a:outerShdw sx="100000" sy="100000" kx="0" ky="0" algn="bl" rotWithShape="0" blurRad="1524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65008" y="1261872"/>
            <a:ext cx="475488" cy="4754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65008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1261872"/>
            <a:ext cx="3310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46320" y="16642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examples → dramatically higher precision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1993392"/>
            <a:ext cx="3712464" cy="914400"/>
          </a:xfrm>
          <a:prstGeom prst="roundRect">
            <a:avLst>
              <a:gd name="adj" fmla="val 8000"/>
            </a:avLst>
          </a:prstGeom>
          <a:solidFill>
            <a:srgbClr val="CFFAFE"/>
          </a:solidFill>
          <a:ln/>
        </p:spPr>
      </p:sp>
      <p:sp>
        <p:nvSpPr>
          <p:cNvPr id="23" name="Text 21"/>
          <p:cNvSpPr/>
          <p:nvPr/>
        </p:nvSpPr>
        <p:spPr>
          <a:xfrm>
            <a:off x="4919472" y="2048256"/>
            <a:ext cx="3566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'Product arrived broken' → complaint, high urgency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'When will you have a sale?' → question, low urgency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3: 'I want to cancel my order' → cancellation, medium urgency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3017520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Highest ROI technique — small effort, big gain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3328416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Claude Sonnet 4.6: wrap examples in XML tags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3639312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GPT-5.5: Markdown headers work great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3950208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Diverse examples &gt; similar examples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201168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7635240" y="2011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0.3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Thought and Tree of Thought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reasoning — when and how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3977640" cy="3675888"/>
          </a:xfrm>
          <a:prstGeom prst="roundRect">
            <a:avLst>
              <a:gd name="adj" fmla="val 2985"/>
            </a:avLst>
          </a:prstGeom>
          <a:solidFill>
            <a:srgbClr val="EEEEFF"/>
          </a:solidFill>
          <a:ln/>
          <a:effectLst>
            <a:outerShdw sx="100000" sy="100000" kx="0" ky="0" algn="bl" rotWithShape="0" blurRad="152400" dist="508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261872"/>
            <a:ext cx="475488" cy="47548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" y="1261872"/>
            <a:ext cx="3218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Thought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1664208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+19% accuracy on complex tasks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1993392"/>
            <a:ext cx="3621024" cy="530352"/>
          </a:xfrm>
          <a:prstGeom prst="roundRect">
            <a:avLst>
              <a:gd name="adj" fmla="val 13793"/>
            </a:avLst>
          </a:prstGeom>
          <a:solidFill>
            <a:srgbClr val="E9D5FF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048256"/>
            <a:ext cx="3493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"...what is the net profit? Think through this step by step."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633472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CoT — the magic suffix: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2926080"/>
            <a:ext cx="3621024" cy="292608"/>
          </a:xfrm>
          <a:prstGeom prst="roundRect">
            <a:avLst>
              <a:gd name="adj" fmla="val 18750"/>
            </a:avLst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926080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"Think through this step by step"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310128"/>
            <a:ext cx="362102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if using Adaptive Thinking or GPT Thinking mode — skip CoT. The model already reasons internally. Adding it manually can interfere.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115568"/>
            <a:ext cx="4069080" cy="3675888"/>
          </a:xfrm>
          <a:prstGeom prst="roundRect">
            <a:avLst>
              <a:gd name="adj" fmla="val 2985"/>
            </a:avLst>
          </a:prstGeom>
          <a:solidFill>
            <a:srgbClr val="F5F3FF"/>
          </a:solidFill>
          <a:ln/>
          <a:effectLst>
            <a:outerShdw sx="100000" sy="100000" kx="0" ky="0" algn="bl" rotWithShape="0" blurRad="1524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65008" y="1261872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65008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1261872"/>
            <a:ext cx="3310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of Thought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46320" y="16642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reasoning paths — powerful but expensive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1993392"/>
            <a:ext cx="3712464" cy="640080"/>
          </a:xfrm>
          <a:prstGeom prst="roundRect">
            <a:avLst>
              <a:gd name="adj" fmla="val 11429"/>
            </a:avLst>
          </a:prstGeom>
          <a:solidFill>
            <a:srgbClr val="EDE9FE"/>
          </a:solidFill>
          <a:ln/>
        </p:spPr>
      </p:sp>
      <p:sp>
        <p:nvSpPr>
          <p:cNvPr id="23" name="Text 21"/>
          <p:cNvSpPr/>
          <p:nvPr/>
        </p:nvSpPr>
        <p:spPr>
          <a:xfrm>
            <a:off x="4919472" y="2048256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"Consider 3 completely different business directions. For each: advantages, disadvantages, success likelihood. Then recommend the best."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743200"/>
            <a:ext cx="3712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2962656"/>
            <a:ext cx="3712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multiple paths before committing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255264"/>
            <a:ext cx="3712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3474720"/>
            <a:ext cx="3712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token consumption = significantly higher cost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767328"/>
            <a:ext cx="3712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3986784"/>
            <a:ext cx="3712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high-stakes decisions only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4279392"/>
            <a:ext cx="3712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not to: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4498848"/>
            <a:ext cx="3712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of cases — regular CoT is sufficient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201168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7635240" y="2011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0.3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Prompting and Self-Consistency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two techniques in your arsenal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3977640" cy="3675888"/>
          </a:xfrm>
          <a:prstGeom prst="roundRect">
            <a:avLst>
              <a:gd name="adj" fmla="val 2985"/>
            </a:avLst>
          </a:prstGeom>
          <a:solidFill>
            <a:srgbClr val="FFFBEB"/>
          </a:solidFill>
          <a:ln/>
          <a:effectLst>
            <a:outerShdw sx="100000" sy="100000" kx="0" ky="0" algn="bl" rotWithShape="0" blurRad="152400" dist="508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261872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" y="1261872"/>
            <a:ext cx="3218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Prompting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1664208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specific role = better output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1993392"/>
            <a:ext cx="3621024" cy="713232"/>
          </a:xfrm>
          <a:prstGeom prst="roundRect">
            <a:avLst>
              <a:gd name="adj" fmla="val 10256"/>
            </a:avLst>
          </a:prstGeom>
          <a:solidFill>
            <a:srgbClr val="FFFBEB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" y="2066544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06654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316736" y="2066544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are an assistant."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2798064"/>
            <a:ext cx="3621024" cy="713232"/>
          </a:xfrm>
          <a:prstGeom prst="roundRect">
            <a:avLst>
              <a:gd name="adj" fmla="val 10256"/>
            </a:avLst>
          </a:prstGeom>
          <a:solidFill>
            <a:srgbClr val="FFFBEB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" y="2871216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8712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316736" y="287121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are a marketing expert."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3602736"/>
            <a:ext cx="3621024" cy="713232"/>
          </a:xfrm>
          <a:prstGeom prst="roundRect">
            <a:avLst>
              <a:gd name="adj" fmla="val 10256"/>
            </a:avLst>
          </a:prstGeom>
          <a:solidFill>
            <a:srgbClr val="FFFBEB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" y="3675888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367588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316736" y="3675888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are a digital marketing manager at a B2B SaaS company with 5 years of experience, specializing in SMB email campaigns and conversion optimization."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" y="4462272"/>
            <a:ext cx="3621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Prompting is a required ingredient in every System Prompt.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1115568"/>
            <a:ext cx="4069080" cy="3675888"/>
          </a:xfrm>
          <a:prstGeom prst="roundRect">
            <a:avLst>
              <a:gd name="adj" fmla="val 2985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52400" dist="508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65008" y="1261872"/>
            <a:ext cx="475488" cy="47548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65008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1261872"/>
            <a:ext cx="3310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46320" y="16642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answers + cross-reference — best under uncertainty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1993392"/>
            <a:ext cx="3712464" cy="713232"/>
          </a:xfrm>
          <a:prstGeom prst="roundRect">
            <a:avLst>
              <a:gd name="adj" fmla="val 10256"/>
            </a:avLst>
          </a:prstGeom>
          <a:solidFill>
            <a:srgbClr val="FEE2E2"/>
          </a:solidFill>
          <a:ln/>
        </p:spPr>
      </p:sp>
      <p:sp>
        <p:nvSpPr>
          <p:cNvPr id="30" name="Text 28"/>
          <p:cNvSpPr/>
          <p:nvPr/>
        </p:nvSpPr>
        <p:spPr>
          <a:xfrm>
            <a:off x="4919472" y="2048256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"Provide 3 distinct answers to the following question, each using a different reasoning approach. Then identify which answer is strongest and explain why."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2816352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it worth it?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3163824"/>
            <a:ext cx="3730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Legal analysis — multiple valid interpretations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46320" y="3511296"/>
            <a:ext cx="3730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High-stakes business decisions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0" y="3858768"/>
            <a:ext cx="3730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Complex technical diagnosis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46320" y="4206240"/>
            <a:ext cx="3730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Signal: 3 very different answers = underspecified question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201168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7635240" y="2011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0.3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Techniques — Summary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choose and when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8321040" cy="347472"/>
          </a:xfrm>
          <a:prstGeom prst="roundRect">
            <a:avLst>
              <a:gd name="adj" fmla="val 15789"/>
            </a:avLst>
          </a:prstGeom>
          <a:solidFill>
            <a:srgbClr val="1A1A2E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115568"/>
            <a:ext cx="329184" cy="34747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1155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98064" y="1115568"/>
            <a:ext cx="1691640" cy="34747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35424" y="1115568"/>
            <a:ext cx="2487168" cy="34747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77456" y="1115568"/>
            <a:ext cx="1170432" cy="34747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1499616"/>
            <a:ext cx="8321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1572768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96112" y="1499616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98064" y="1499616"/>
            <a:ext cx="1664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first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35424" y="1499616"/>
            <a:ext cx="2487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translation, writing, summarization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77456" y="1499616"/>
            <a:ext cx="1143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2066544"/>
            <a:ext cx="8321040" cy="530352"/>
          </a:xfrm>
          <a:prstGeom prst="rect">
            <a:avLst/>
          </a:prstGeom>
          <a:solidFill>
            <a:srgbClr val="F0F0F8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2139696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96112" y="2066544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98064" y="2066544"/>
            <a:ext cx="1664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consistency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35424" y="2066544"/>
            <a:ext cx="2487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repeating task + classification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77456" y="2066544"/>
            <a:ext cx="1143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2633472"/>
            <a:ext cx="8321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" y="2706624"/>
            <a:ext cx="384048" cy="38404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96112" y="2633472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Thought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798064" y="2633472"/>
            <a:ext cx="1664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reasoning mode active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35424" y="2633472"/>
            <a:ext cx="2487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Math, logic, multi-step analysis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77456" y="2633472"/>
            <a:ext cx="1143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1480" y="3200400"/>
            <a:ext cx="8321040" cy="530352"/>
          </a:xfrm>
          <a:prstGeom prst="rect">
            <a:avLst/>
          </a:prstGeom>
          <a:solidFill>
            <a:srgbClr val="F0F0F8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" y="3273552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96112" y="320040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of Thought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798064" y="3200400"/>
            <a:ext cx="1664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High-stakes only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35424" y="3200400"/>
            <a:ext cx="2487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Strategy, architecture, major investments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077456" y="3200400"/>
            <a:ext cx="1143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11480" y="3767328"/>
            <a:ext cx="8321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" y="384048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96112" y="3767328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Prompting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798064" y="3767328"/>
            <a:ext cx="1664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— every prompt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35424" y="3767328"/>
            <a:ext cx="2487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in every System Prompt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077456" y="3767328"/>
            <a:ext cx="1143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11480" y="4334256"/>
            <a:ext cx="8321040" cy="530352"/>
          </a:xfrm>
          <a:prstGeom prst="rect">
            <a:avLst/>
          </a:prstGeom>
          <a:solidFill>
            <a:srgbClr val="F0F0F8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5488" y="4407408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96112" y="4334256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2798064" y="4334256"/>
            <a:ext cx="1664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uncertainty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535424" y="4334256"/>
            <a:ext cx="2487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medical, financial, technical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077456" y="4334256"/>
            <a:ext cx="1143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11480" y="4937760"/>
            <a:ext cx="8321040" cy="292608"/>
          </a:xfrm>
          <a:prstGeom prst="roundRect">
            <a:avLst>
              <a:gd name="adj" fmla="val 18750"/>
            </a:avLst>
          </a:prstGeom>
          <a:solidFill>
            <a:srgbClr val="EEEEFF"/>
          </a:solidFill>
          <a:ln/>
        </p:spPr>
      </p:sp>
      <p:sp>
        <p:nvSpPr>
          <p:cNvPr id="55" name="Text 53"/>
          <p:cNvSpPr/>
          <p:nvPr/>
        </p:nvSpPr>
        <p:spPr>
          <a:xfrm>
            <a:off x="502920" y="49377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+ RTCF covers 80%  |  The advanced techniques are your toolkit for the other 20%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201168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7635240" y="2011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0.3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— The DNA of Every AI Product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instructions that define how the AI behaves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115568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Prompt is a standing instruction that defines AI behavior for the entire session. In ChatGPT: Custom Instructions. In Claude: the system parameter. In any chatbot or automation: the heart of the product.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865376"/>
            <a:ext cx="3858768" cy="1316736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" y="2267712"/>
            <a:ext cx="457200" cy="45720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69848" y="1975104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— Who is this AI?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6072" y="2377440"/>
            <a:ext cx="3621024" cy="658368"/>
          </a:xfrm>
          <a:prstGeom prst="roundRect">
            <a:avLst>
              <a:gd name="adj" fmla="val 8333"/>
            </a:avLst>
          </a:prstGeom>
          <a:solidFill>
            <a:srgbClr val="F9FAFB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" y="2432304"/>
            <a:ext cx="3438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are a customer service representative for a digital marketing agency."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07408" y="1865376"/>
            <a:ext cx="3858768" cy="1316736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0560" y="2267712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65776" y="1975104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— What is a good response?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2377440"/>
            <a:ext cx="3621024" cy="658368"/>
          </a:xfrm>
          <a:prstGeom prst="roundRect">
            <a:avLst>
              <a:gd name="adj" fmla="val 8333"/>
            </a:avLst>
          </a:prstGeom>
          <a:solidFill>
            <a:srgbClr val="F9FAFB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2432304"/>
            <a:ext cx="3438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successful response answers the customer's question clearly in 2 or fewer sentences."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328416"/>
            <a:ext cx="3858768" cy="1316736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" y="3730752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69848" y="3438144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— What must it never do?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76072" y="3840480"/>
            <a:ext cx="3621024" cy="658368"/>
          </a:xfrm>
          <a:prstGeom prst="roundRect">
            <a:avLst>
              <a:gd name="adj" fmla="val 8333"/>
            </a:avLst>
          </a:prstGeom>
          <a:solidFill>
            <a:srgbClr val="F9FAFB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" y="3895344"/>
            <a:ext cx="3438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"Never invent information. If you are not certain of an answer, say so explicitly."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07408" y="3328416"/>
            <a:ext cx="3858768" cy="1316736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80560" y="3730752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65776" y="3438144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— How to structure output?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0" y="3840480"/>
            <a:ext cx="3621024" cy="658368"/>
          </a:xfrm>
          <a:prstGeom prst="roundRect">
            <a:avLst>
              <a:gd name="adj" fmla="val 8333"/>
            </a:avLst>
          </a:prstGeom>
          <a:solidFill>
            <a:srgbClr val="F9FAFB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3895344"/>
            <a:ext cx="3438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"Return a JSON object with 3 fields: answer, confidence, source."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4882896"/>
            <a:ext cx="8321040" cy="347472"/>
          </a:xfrm>
          <a:prstGeom prst="roundRect">
            <a:avLst>
              <a:gd name="adj" fmla="val 21053"/>
            </a:avLst>
          </a:prstGeom>
          <a:solidFill>
            <a:srgbClr val="EEEEFF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488289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4.6: use XML tags (instructions, context, rules)  |  GPT-5.5: Markdown headers work well  |  All models: explicitly permit 'I'm not sure' — reduces hallucinations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201168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7635240" y="2011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0.3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Thinking — Built-in Reasoning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thinks for itself  |  2025–2026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EEEE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115568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Thinking (Claude Sonnet 4.6 + Opus 4.7): the model evaluates problem complexity and decides how much reasoning effort to allocate. Guide it with: standard / high / maximum — no manual token budget required.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865376"/>
            <a:ext cx="2633472" cy="1572768"/>
          </a:xfrm>
          <a:prstGeom prst="roundRect">
            <a:avLst>
              <a:gd name="adj" fmla="val 5814"/>
            </a:avLst>
          </a:prstGeom>
          <a:solidFill>
            <a:srgbClr val="EEEE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21208" y="1920240"/>
            <a:ext cx="24140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" y="2249424"/>
            <a:ext cx="24140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Thinking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1208" y="2514600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Opus 4.7 for the most demanding tasks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1208" y="2807208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Sonnet 4.6 for everyday production work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1208" y="3099816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million token context window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865376"/>
            <a:ext cx="2633472" cy="1572768"/>
          </a:xfrm>
          <a:prstGeom prst="roundRect">
            <a:avLst>
              <a:gd name="adj" fmla="val 5814"/>
            </a:avLst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10128" y="1920240"/>
            <a:ext cx="24140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2249424"/>
            <a:ext cx="24140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Mode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10128" y="2514600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Shows reasoning plan before answer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0128" y="2807208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Redirect it while it's still thinking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0128" y="3099816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model unifying all capabilities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89320" y="1865376"/>
            <a:ext cx="2633472" cy="1572768"/>
          </a:xfrm>
          <a:prstGeom prst="roundRect">
            <a:avLst>
              <a:gd name="adj" fmla="val 5814"/>
            </a:avLst>
          </a:prstGeom>
          <a:solidFill>
            <a:srgbClr val="EAF1FE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99048" y="1920240"/>
            <a:ext cx="24140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3.1 Pro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99048" y="2249424"/>
            <a:ext cx="24140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Mode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99048" y="2514600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million token context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99048" y="2807208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Workspace integration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99048" y="3099816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ARC-AGI-2 score: 77.1%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3566160"/>
            <a:ext cx="3977640" cy="1325880"/>
          </a:xfrm>
          <a:prstGeom prst="roundRect">
            <a:avLst>
              <a:gd name="adj" fmla="val 6897"/>
            </a:avLst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30352" y="3712464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5568" y="3712464"/>
            <a:ext cx="3218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Reasoning?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15568" y="406908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Math and logic problems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15568" y="428853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Complex code debugging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15568" y="450799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Multi-step analysis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15568" y="472744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High-stakes decisions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3566160"/>
            <a:ext cx="4069080" cy="1325880"/>
          </a:xfrm>
          <a:prstGeom prst="roundRect">
            <a:avLst>
              <a:gd name="adj" fmla="val 6897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065008" y="3712464"/>
            <a:ext cx="475488" cy="47548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650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46320" y="3712464"/>
            <a:ext cx="3035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not to?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46320" y="40690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Writing an email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46320" y="428853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Summarizing a document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46320" y="45079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Social media posts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46320" y="472744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 questions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11480" y="4974336"/>
            <a:ext cx="8321040" cy="292608"/>
          </a:xfrm>
          <a:prstGeom prst="roundRect">
            <a:avLst>
              <a:gd name="adj" fmla="val 18750"/>
            </a:avLst>
          </a:prstGeom>
          <a:solidFill>
            <a:srgbClr val="EEEEFF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" y="49743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in Reasoning Mode — do not add 'think step by step.' The model is already doing CoT internally.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201168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7635240" y="2011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0.3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— The Next Level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prompting: designing the full AI environment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8321040" cy="877824"/>
          </a:xfrm>
          <a:prstGeom prst="roundRect">
            <a:avLst>
              <a:gd name="adj" fmla="val 10417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43584"/>
            <a:ext cx="493776" cy="49377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4358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70432" y="117043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Andrej Karpathy: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70432" y="1463040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delicate art and science of filling the context window with just the right information for the next step." — the definition of Context Engineering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2121408"/>
            <a:ext cx="40233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295144"/>
            <a:ext cx="384048" cy="38404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295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48656" y="2212848"/>
            <a:ext cx="3310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48656" y="2523744"/>
            <a:ext cx="3310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standing instructions — role, rules, output format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40233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191256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48656" y="3108960"/>
            <a:ext cx="3310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48656" y="3419856"/>
            <a:ext cx="3310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said in the current session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3913632"/>
            <a:ext cx="40233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4087368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48656" y="4005072"/>
            <a:ext cx="3310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Documents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48656" y="4315968"/>
            <a:ext cx="3310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data tables, reference material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2121408"/>
            <a:ext cx="40233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44144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96696" y="2212848"/>
            <a:ext cx="3310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Tools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96696" y="2578608"/>
            <a:ext cx="33101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email, query CRM, read database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" y="3474720"/>
            <a:ext cx="40233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2920" y="379476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96696" y="3566160"/>
            <a:ext cx="3310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+ RAG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96696" y="3931920"/>
            <a:ext cx="33101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retrieved from a knowledge base by relevance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11480" y="4882896"/>
            <a:ext cx="8321040" cy="347472"/>
          </a:xfrm>
          <a:prstGeom prst="roundRect">
            <a:avLst>
              <a:gd name="adj" fmla="val 21053"/>
            </a:avLst>
          </a:prstGeom>
          <a:solidFill>
            <a:srgbClr val="FFFBEB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88289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Gartner: 40% of enterprise apps will include AI Agents by late 2026  |  80% of AI failures will stem from poor context management — not model limitations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201168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7635240" y="2011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0.3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Management — Traps and Solutions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handling of the context window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8321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35824" y="146304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35824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207008"/>
            <a:ext cx="6967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in the Middle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1554480"/>
            <a:ext cx="6967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Models have a U-shaped attention curve — they remember the start and end well; the middle fades. Confirmed even in 128K+ token windows.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901952"/>
            <a:ext cx="6967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Critical instructions: at the very start of your System Prompt  |  Few-Shot examples: at the very end, immediately before the request.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414016"/>
            <a:ext cx="8321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35824" y="276148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35824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2505456"/>
            <a:ext cx="6967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Rot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" y="2852928"/>
            <a:ext cx="6967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As a conversation grows and fills the context window, the model's accuracy gradually decreases.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200400"/>
            <a:ext cx="6967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Automatic compaction: Claude summarizes earlier conversation when ~80% of the window is full. Plan for this in long-running sessions.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712464"/>
            <a:ext cx="8321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35824" y="4059936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35824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3803904"/>
            <a:ext cx="6967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Costs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4151376"/>
            <a:ext cx="6967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Long System Prompts + conversation history + large RAG documents all add up. Formula: tokens × price × call volume = monthly cost.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4498848"/>
            <a:ext cx="6967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Write System Prompts concisely  |  Clear irrelevant history  |  Always calculate your token budget before going live.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5029200"/>
            <a:ext cx="8321040" cy="256032"/>
          </a:xfrm>
          <a:prstGeom prst="roundRect">
            <a:avLst>
              <a:gd name="adj" fmla="val 21429"/>
            </a:avLst>
          </a:prstGeom>
          <a:solidFill>
            <a:srgbClr val="E0FAFF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50292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critical instructions at the start  |  examples at the end  |  compaction for long conversations  |  always calculate token budget before deploying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201168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7635240" y="2011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0.3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Personal Prompt Library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Zero Project — your professional AI toolkit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115568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prompt in your library needs 6 components: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517904"/>
            <a:ext cx="385876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" y="1591056"/>
            <a:ext cx="384048" cy="38404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78408" y="1554480"/>
            <a:ext cx="3163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78408" y="179222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descriptive, memorable title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07408" y="1517904"/>
            <a:ext cx="385876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1591056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74336" y="1554480"/>
            <a:ext cx="3163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74336" y="179222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task does this prompt accomplish?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139696"/>
            <a:ext cx="385876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" y="2212848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78408" y="2176272"/>
            <a:ext cx="3163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78408" y="241401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with RTCF + the right technique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07408" y="2139696"/>
            <a:ext cx="385876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80560" y="221284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74336" y="2176272"/>
            <a:ext cx="3163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74336" y="241401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/ Few-Shot / CoT / Role / etc.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2761488"/>
            <a:ext cx="385876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" y="283464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78408" y="2798064"/>
            <a:ext cx="3163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Model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78408" y="303580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/ Claude Sonnet / Opus / Gemini — whichever performs best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07408" y="2761488"/>
            <a:ext cx="385876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480560" y="2834640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056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74336" y="2798064"/>
            <a:ext cx="3163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974336" y="303580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real result for future comparison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1480" y="343814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prompts to get you started: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11480" y="3767328"/>
            <a:ext cx="8321040" cy="329184"/>
          </a:xfrm>
          <a:prstGeom prst="roundRect">
            <a:avLst>
              <a:gd name="adj" fmla="val 16667"/>
            </a:avLst>
          </a:prstGeom>
          <a:solidFill>
            <a:srgbClr val="EEEEFF"/>
          </a:solidFill>
          <a:ln/>
        </p:spPr>
      </p:sp>
      <p:sp>
        <p:nvSpPr>
          <p:cNvPr id="39" name="Text 37"/>
          <p:cNvSpPr/>
          <p:nvPr/>
        </p:nvSpPr>
        <p:spPr>
          <a:xfrm>
            <a:off x="594360" y="376732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email  |  Meeting summary  |  Competitor analysis  |  Social media post generator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11480" y="4151376"/>
            <a:ext cx="8321040" cy="329184"/>
          </a:xfrm>
          <a:prstGeom prst="roundRect">
            <a:avLst>
              <a:gd name="adj" fmla="val 16667"/>
            </a:avLst>
          </a:prstGeom>
          <a:solidFill>
            <a:srgbClr val="F0F0F8"/>
          </a:solidFill>
          <a:ln/>
        </p:spPr>
      </p:sp>
      <p:sp>
        <p:nvSpPr>
          <p:cNvPr id="41" name="Text 39"/>
          <p:cNvSpPr/>
          <p:nvPr/>
        </p:nvSpPr>
        <p:spPr>
          <a:xfrm>
            <a:off x="594360" y="4151376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inquiry classifier  |  Proposal generator  |  Customer service chatbot System Prompt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11480" y="4535424"/>
            <a:ext cx="8321040" cy="329184"/>
          </a:xfrm>
          <a:prstGeom prst="roundRect">
            <a:avLst>
              <a:gd name="adj" fmla="val 16667"/>
            </a:avLst>
          </a:prstGeom>
          <a:solidFill>
            <a:srgbClr val="EEEEFF"/>
          </a:solidFill>
          <a:ln/>
        </p:spPr>
      </p:sp>
      <p:sp>
        <p:nvSpPr>
          <p:cNvPr id="43" name="Text 41"/>
          <p:cNvSpPr/>
          <p:nvPr/>
        </p:nvSpPr>
        <p:spPr>
          <a:xfrm>
            <a:off x="594360" y="4535424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content prompt  |  Customer review analyzer  |  Image prompt generator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11480" y="4974336"/>
            <a:ext cx="8321040" cy="292608"/>
          </a:xfrm>
          <a:prstGeom prst="roundRect">
            <a:avLst>
              <a:gd name="adj" fmla="val 18750"/>
            </a:avLst>
          </a:prstGeom>
          <a:solidFill>
            <a:srgbClr val="ECFDF5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" y="49743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Google Docs, Notion, or any format you prefer. The tool doesn't matter — the discipline does.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6C63FF">
              <a:alpha val="18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731520"/>
            <a:ext cx="2743200" cy="27432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Today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0" y="896112"/>
            <a:ext cx="3950208" cy="749808"/>
          </a:xfrm>
          <a:prstGeom prst="roundRect">
            <a:avLst>
              <a:gd name="adj" fmla="val 12195"/>
            </a:avLst>
          </a:prstGeom>
          <a:solidFill>
            <a:srgbClr val="2E2E52"/>
          </a:solidFill>
          <a:ln/>
          <a:effectLst>
            <a:outerShdw sx="100000" sy="100000" kx="0" ky="0" algn="bl" rotWithShape="0" blurRad="152400" dist="508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663440" y="1078992"/>
            <a:ext cx="384048" cy="38404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1078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166360" y="969264"/>
            <a:ext cx="3246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RTCF — Role, Task, Context, Format: the formula that improves every prompt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773936"/>
            <a:ext cx="3950208" cy="749808"/>
          </a:xfrm>
          <a:prstGeom prst="roundRect">
            <a:avLst>
              <a:gd name="adj" fmla="val 12195"/>
            </a:avLst>
          </a:prstGeom>
          <a:solidFill>
            <a:srgbClr val="2E2E52"/>
          </a:solidFill>
          <a:ln/>
          <a:effectLst>
            <a:outerShdw sx="100000" sy="100000" kx="0" ky="0" algn="bl" rotWithShape="0" blurRad="152400" dist="508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956816"/>
            <a:ext cx="384048" cy="38404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66360" y="1847088"/>
            <a:ext cx="3246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vs Production: version control, JSON, testing, monitoring, token cost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2651760"/>
            <a:ext cx="3950208" cy="749808"/>
          </a:xfrm>
          <a:prstGeom prst="roundRect">
            <a:avLst>
              <a:gd name="adj" fmla="val 12195"/>
            </a:avLst>
          </a:prstGeom>
          <a:solidFill>
            <a:srgbClr val="2E2E52"/>
          </a:solidFill>
          <a:ln/>
          <a:effectLst>
            <a:outerShdw sx="100000" sy="100000" kx="0" ky="0" algn="bl" rotWithShape="0" blurRad="152400" dist="508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834640"/>
            <a:ext cx="384048" cy="38404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66360" y="2724912"/>
            <a:ext cx="3246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+ Few-Shot: cover 80%  |  CoT + ToT: for complex reasoning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3529584"/>
            <a:ext cx="3950208" cy="749808"/>
          </a:xfrm>
          <a:prstGeom prst="roundRect">
            <a:avLst>
              <a:gd name="adj" fmla="val 12195"/>
            </a:avLst>
          </a:prstGeom>
          <a:solidFill>
            <a:srgbClr val="2E2E52"/>
          </a:solidFill>
          <a:ln/>
          <a:effectLst>
            <a:outerShdw sx="100000" sy="100000" kx="0" ky="0" algn="bl" rotWithShape="0" blurRad="1524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712464"/>
            <a:ext cx="384048" cy="38404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66360" y="3602736"/>
            <a:ext cx="3246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Prompting + Self-Consistency: required in every System Prompt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896112"/>
            <a:ext cx="3950208" cy="749808"/>
          </a:xfrm>
          <a:prstGeom prst="roundRect">
            <a:avLst>
              <a:gd name="adj" fmla="val 12195"/>
            </a:avLst>
          </a:prstGeom>
          <a:solidFill>
            <a:srgbClr val="2E2E52"/>
          </a:solidFill>
          <a:ln/>
          <a:effectLst>
            <a:outerShdw sx="100000" sy="100000" kx="0" ky="0" algn="bl" rotWithShape="0" blurRad="152400" dist="508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1078992"/>
            <a:ext cx="384048" cy="38404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1078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51560" y="969264"/>
            <a:ext cx="3246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Prompts: Role, Success, Constraints, Format — DNA of every AI product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1773936"/>
            <a:ext cx="3950208" cy="749808"/>
          </a:xfrm>
          <a:prstGeom prst="roundRect">
            <a:avLst>
              <a:gd name="adj" fmla="val 12195"/>
            </a:avLst>
          </a:prstGeom>
          <a:solidFill>
            <a:srgbClr val="2E2E52"/>
          </a:solidFill>
          <a:ln/>
          <a:effectLst>
            <a:outerShdw sx="100000" sy="100000" kx="0" ky="0" algn="bl" rotWithShape="0" blurRad="152400" dist="5080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1956816"/>
            <a:ext cx="384048" cy="38404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51560" y="1847088"/>
            <a:ext cx="3246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Thinking: built-in reasoning — when to use it and when not to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2651760"/>
            <a:ext cx="3950208" cy="749808"/>
          </a:xfrm>
          <a:prstGeom prst="roundRect">
            <a:avLst>
              <a:gd name="adj" fmla="val 12195"/>
            </a:avLst>
          </a:prstGeom>
          <a:solidFill>
            <a:srgbClr val="2E2E52"/>
          </a:solidFill>
          <a:ln/>
          <a:effectLst>
            <a:outerShdw sx="100000" sy="100000" kx="0" ky="0" algn="bl" rotWithShape="0" blurRad="152400" dist="50800" dir="27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2834640"/>
            <a:ext cx="384048" cy="38404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51560" y="2724912"/>
            <a:ext cx="3246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Engineering: System Prompt + history + documents + tools + RAG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529584"/>
            <a:ext cx="3950208" cy="749808"/>
          </a:xfrm>
          <a:prstGeom prst="roundRect">
            <a:avLst>
              <a:gd name="adj" fmla="val 12195"/>
            </a:avLst>
          </a:prstGeom>
          <a:solidFill>
            <a:srgbClr val="2E2E52"/>
          </a:solidFill>
          <a:ln/>
          <a:effectLst>
            <a:outerShdw sx="100000" sy="100000" kx="0" ky="0" algn="bl" rotWithShape="0" blurRad="152400" dist="50800" dir="27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" y="3712464"/>
            <a:ext cx="384048" cy="38404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51560" y="3602736"/>
            <a:ext cx="3246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Management: Lost in Middle, Context Rot, costs — 3 traps + solutions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434840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43484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</a:t>
            </a:r>
            <a:pPr algn="ctr" indent="0" marL="0">
              <a:buNone/>
            </a:pPr>
            <a:r>
              <a:rPr lang="en-US" sz="1400" dirty="0">
                <a:solidFill>
                  <a:srgbClr val="D4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Automations: Make.com | Building your first real automation from scratch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57200" y="5074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meantime: build your personal prompt library. 10 prompts, RTCF, recommended model, sample output.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0.3 - Prompt Engineering</dc:title>
  <dc:subject>PptxGenJS Presentation</dc:subject>
  <dc:creator>TovTech</dc:creator>
  <cp:lastModifiedBy>TovTech</cp:lastModifiedBy>
  <cp:revision>1</cp:revision>
  <dcterms:created xsi:type="dcterms:W3CDTF">2026-06-17T07:21:01Z</dcterms:created>
  <dcterms:modified xsi:type="dcterms:W3CDTF">2026-06-17T07:21:01Z</dcterms:modified>
</cp:coreProperties>
</file>
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000" b="1">
                <a:solidFill>
                  <a:srgbClr val="FFFFFF"/>
                </a:solidFill>
                <a:latin typeface="Arial"/>
              </a:rPr>
              <a:t>עבודה עם Claude API ואינטגרציות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>
                <a:solidFill>
                  <a:srgbClr val="E87A3D"/>
                </a:solidFill>
                <a:latin typeface="Arial"/>
              </a:rPr>
              <a:t>פרק 2 | קורס AI Dev  •  שיעורים 2.1–2.6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FFFFF"/>
                </a:solidFill>
                <a:latin typeface="Arial"/>
              </a:rPr>
              <a:t>תוכן העניינים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מהו API — HTTP, REST ואימות   </a:t>
            </a:r>
            <a:r>
              <a:rPr sz="1900" b="1">
                <a:solidFill>
                  <a:srgbClr val="E87A3D"/>
                </a:solidFill>
                <a:latin typeface="Arial"/>
              </a:rPr>
              <a:t>2.1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95728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עבודה עם API של Claude, OpenAI ו-Gemini   </a:t>
            </a:r>
            <a:r>
              <a:rPr sz="1900" b="1">
                <a:solidFill>
                  <a:srgbClr val="E87A3D"/>
                </a:solidFill>
                <a:latin typeface="Arial"/>
              </a:rPr>
              <a:t>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36976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Webhooks — מ-Pull ל-Push   </a:t>
            </a:r>
            <a:r>
              <a:rPr sz="1900" b="1">
                <a:solidFill>
                  <a:srgbClr val="E87A3D"/>
                </a:solidFill>
                <a:latin typeface="Arial"/>
              </a:rPr>
              <a:t>2.3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78224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JSON ופלט מובנה ממודלי שפה   </a:t>
            </a:r>
            <a:r>
              <a:rPr sz="1900" b="1">
                <a:solidFill>
                  <a:srgbClr val="E87A3D"/>
                </a:solidFill>
                <a:latin typeface="Arial"/>
              </a:rPr>
              <a:t>2.4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19472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Python Patterns לאוטומציה   </a:t>
            </a:r>
            <a:r>
              <a:rPr sz="1900" b="1">
                <a:solidFill>
                  <a:srgbClr val="E87A3D"/>
                </a:solidFill>
                <a:latin typeface="Arial"/>
              </a:rPr>
              <a:t>2.5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760720"/>
            <a:ext cx="10515600" cy="713232"/>
          </a:xfrm>
          <a:prstGeom prst="roundRect">
            <a:avLst/>
          </a:prstGeom>
          <a:solidFill>
            <a:srgbClr val="F5F6FA"/>
          </a:solidFill>
          <a:ln w="9525">
            <a:solidFill>
              <a:srgbClr val="E3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>
                <a:solidFill>
                  <a:srgbClr val="20232E"/>
                </a:solidFill>
                <a:latin typeface="Arial"/>
              </a:rPr>
              <a:t>MCP — Model Context Protocol   </a:t>
            </a:r>
            <a:r>
              <a:rPr sz="1900" b="1">
                <a:solidFill>
                  <a:srgbClr val="E87A3D"/>
                </a:solidFill>
                <a:latin typeface="Arial"/>
              </a:rPr>
              <a:t>2.6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מהו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API בבסיסו: חוזה בין תוכנות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API = Application Programming Interface — חוזה תקשורת בין תוכנות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אנלוגיית המסעדה: אתם (הלקוח) ← מלצר (ה-API) ← מטבח (השרת)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התפריט = התיעוד; ההזמנה = הבקשה; המנה שמגיעה = התגובה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ה-API מפריד בין הלקוח לספק, וכל צד מתמקד במה שהוא עושה הכי טוב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API כמנוע צמיחה עסקי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מאפשר לחברות להתמקד בליבה ולהיעזר בשירותים חיצוניים לכל השאר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Wix לא בנה סליקה משלו — התחבר ל-Stripe / PayPal דרך API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חברות פינטק ישראליות (Rapyd, Payoneer) נבנו כולן סביב API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אפילו הממשלה: api.gov.il חושף נתונים ציבוריים למפתחים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בעולם ה-AI, ה-API הוא המוצר עצמו — OpenAI מוכרת גישה, לא תוכנה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שלושה סוגי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Library APIs — ספריות קוד (למשל requests, pandas בפייתון)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OS APIs — ממשק שמערכת ההפעלה חושפת לחומרה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Web APIs — תקשורת בין מערכות דרך האינטרנט (המוקד שלנו)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Claude, OpenAI ו-Google הם כולם Web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HTTP — שפת הרשת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HyperText Transfer Protocol — הבסיס לכל תקשורת באינטרנט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פרוטוקול Request–Response: הלקוח תמיד יוזם את השיחה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Stateless — השרת לא זוכר בקשות קודמות מעצמו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 גלישה באתר = בקשת HTTP ותגובת HTTP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HTTP Methods — הפעלים של הבקשה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GET — קבלת מידע מהשרת, בלי לשנות דבר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POST — יצירת משאב חדש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PUT / PATCH — עדכון משאב קיים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DELETE — מחיקת משאב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שימוש נכון במתודות = API נקי, צפוי וברור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HTTP Status Codes — הרמזור של ה-API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2xx (ירוק) — הצלחה, למשל 200 OK, 201 Created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4xx (צהוב) — שגיאת לקוח: 400 Bad Request, 401 Unauthorized, 404 Not Found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5xx (אדום) — שגיאת שרת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הכרת הקודים חוסכת שעות דיבאגינג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REST — סגנון ארכיטקטוני, לא פרוטוקול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Representational State Transfer — עקרונות לבניית Web APIs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הכל הוא "משאב": משתמש, פוסט, תמונה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 משאב מזוהה ב-URL ייחודי הנקרא Endpoint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פעולות על משאבים דרך מתודות HTTP → API אינטואיטיבי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עקרונות RESTful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הפרדה בין לקוח לשרת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Stateless — אין תלות בבקשות קודמות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ממשק אחיד: URLs, HTTP Methods סטנדרטיים, JSON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אנלוגיית מכונת השתייה — כתובת קבועה, קוד לכל מוצר, כפתורים סטנדרטיים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Headers — המטא-דאטה של הבקשה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אם ה-Body הוא תוכן המכתב, ה-Headers הם מה שכתוב על המעטפה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Content-Type — הפורמט של המידע שנשלח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Accept — הפורמט שהלקוח מוכן לקבל בתגובה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Authorization — פרטי האימות שלנו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Authentication מול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Authentication = "מי אתה?" — הוכחת זהות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Authorization = "מה מותר לך?" — קביעת הרשאות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קודם מאמתים זהות, ורק אחר כך בודקים הרשאה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401 Unauthorized = כשל אימות | 403 Forbidden = כשל הרשאה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2.1  |  מהו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שיטות אימות עיקריות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API Key — מפתח קבוע ופשוט, אך רגיש לדליפה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Bearer Token / JWT — טוקן זמני עם תפוגה (כמו צמיד פסטיבל)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OAuth 2.0 — הרשאה מוגבלת לצד ג׳ בלי לחשוף סיסמה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 מוכרת: "Continue with Google" משתמש ב-OAuth 2.0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עבודה עם API של Claude, OpenAI ו-Gemini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שלושה ספקי מודלים מובילים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Claude (Anthropic), GPT (OpenAI), Gemini (Google) — כל אחד עם SDK משלו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ספריות פייתון: anthropic, openai, google-generativeai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כולם דורשים מפתח API ונשלחים כבקשת POST עם גוף JSON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אותו רעיון בסיסי, syntax שונה מעט בין ספק לספק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קריאה בסיסית והשוואת מודלים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פונקציה נפרדת לכל ספק שמקבלת prompt ומחזירה תשובה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שליחת אותו prompt לשלושתם והשוואת סגנון, איכות ומבנה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תרגול: כתיבת פוסט שיווקי קצר לרשת חברתית בעברית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client.messages.create (Claude) מול client.chat.completions.create (OpenAI)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Streaming — תשובה בזמן אמת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stream=True מחזיר generator של קטעי טקסט (chunks)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מדפיסים כל chunk.text מיד, עם end='' ו-flush=True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משפר משמעותית את חוויית המשתמש בצ׳אטבוטים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העיקרון דומה אצל כל שלושת הספקים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Tool Use / Function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המודל יכול לבקש להפעיל פונקציית Python שהגדרנו לו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מגדירים tool עם name, description ו-input_schema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ה-description קריטי — הוא "מלמד" את המודל מתי להשתמש בכלי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דוגמה: calculate_final_price — חישוב מחיר כולל מע"מ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זרימת עבודה של Tool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1. שולחים prompt + הגדרת tools למודל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2. המודל מחזיר stop_reason == 'tool_use' עם פרמטרים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3. מריצים בפועל את פונקציית הפייתון המתאימה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4. שולחים את תוצאת הפונקציה בחזרה למודל לתשובה מנוסחת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Multi-Turn Conversation — זיכרון שיחה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שמירת conversation_history כרשימת הודעות {role, content}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הודעת system ראשונה מגדירה את תפקיד הבוט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 הודעה חדשה מתווספת ונשלחת מחדש עם כל ההיסטוריה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מאפשר למודל להבין הקשר, כמו "אותה" ו-"משם"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System 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הודעת system יכולה לשנות דרמטית טון, סגנון ואישיות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דוגמה: נציג "מקצועי ורשמי" מול "פלאפי" חברותי עם אימוג׳ים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אותה שאלת משתמש בדיוק → תשובות שונות לגמרי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כלי מרכזי לעיצוב חוויית המשתמש של בוט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בניית Agent מלא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שילוב: system prompt + כלים מרובים + ניהול היסטוריית שיחה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דוגמה: בוט הזמנות למסעדה (get_menu, check_availability, place_order)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 נוספת: עוזר תחבורה ציבורית (get_next_bus, plan_trip)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תיאורי הכלים חייבים להיות מדויקים — הם ה-"API" של ה-Agent מול המודל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2.2  |  עבודה עם API של Claude, OpenAI ו-Gemini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השוואה מסכמת בין הספקים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Claude — חוזק ב-Tool Use ובניתוח משימות מורכבות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GPT-4o — פופולרי מאוד, אקוסיסטם רחב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Gemini — שילוב טבעי עם שירותי Google, Streaming פשוט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הבחירה תלויה במשימה, בעלות ובזמינות ה-API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Webhooks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הבעיה עם Polling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Polling = לשאול שוב ושוב "יש עדכון?"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כ-99% מבקשות ה-Polling חוזרות ריקות (הערכת Zapier לשנת 2025)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בזבזני, לא יעיל ולא מתאים לתהליכי AI ארוכים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אנלוגיה: להתקשר כל 5 דקות למוקד השליחויות ולשאול "איפה החבילה?"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המעבר מ-Pull ל-Push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Webhook = לתת "מספר טלפון" ולקבל הודעה כשמשהו קורה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נקרא גם Reverse API או HTTP Push API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האפליקציה השנייה יוזמת את הקריאה אלינו כשמתרחש אירוע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אנחנו רק "מאזינים" ל-Endpoint שהגדרנו מראש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אנטומיה של בקשת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כמעט תמיד בקשת HTTP POST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Headers — כולל לרוב header לאימות ואבטחה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Payload — גוף הבקשה, לרוב JSON עם פרטי האירוע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הצד השולח קובע את מבנה המידע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בניית שרת קליטה עם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מתקינים Flask, יוצרים app ומגדירים route (למשל /webhook)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ה-route מוגדר לקבל רק בקשות מסוג POST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request.get_json() הופך את ה-Payload למילון פייתוני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חובה להחזיר 200 OK — אחרת השולח ינסה לשלוח שוב ושוב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חשיפת שרת מקומי עם ngrok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שרת שרץ על localhost לא נגיש לשירותים חיצוניים בענן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ngrok יוצר כתובת URL ציבורית שמנתבת ל-port המקומי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פקודה: ngrok http 5001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מתאים לפיתוח ובדיקות בלבד — לא לסביבת Production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אבטחת Webhooks — אימות חתימה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Endpoint ציבורי חשוף = כל אחד יכול לשלוח אליו POST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מפתח סודי משותף → חתימת HMAC על כל בקשה יוצאת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משווים את החתימה שהתקבלה לחתימה שחישבנו בעצמנו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כלל ברזל: לעולם לא לעבוד ב-Production בלי אימות חתימה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שימושים אמיתיים בעסקים ישראליים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E-commerce: אישור תשלום (משולם/Stripe) → עדכון הזמנה ב-Shopify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שיווק: טופס "צור קשר" → יצירת ליד ב-CRM אוטומטית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WhatsApp Business: הודעת לקוח נכנסת → ניתוב לצ׳אטבוט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AI: סיום תמלול/עיבוד ארוך → התראה מיידית במקום Polling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Outgoing Webhooks — כשאנחנו שולחים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המערכת/הסוכן שלנו יכולים גם ליזום שליחת Webhook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לדוגמה: סוכן AI שסיים משימה שולח POST להתראה בסלאק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הופך את המערכת שלנו ל"מקור אירועים" עבור מערכות אחרות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מבוצע פשוט עם requests.post() בפייתון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2.3  | 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פלטפורמות No-Code: Make.com ו-n8n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טריגר "Webhook" מייצר URL ייחודי אוטומטית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מדביקים את ה-URL במערכת השולחת — וזהו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מאפשר בניית אוטומציות שלמות בלי כתיבת קוד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טוב לפרוטוטייפינג מהיר; פחות גמיש משליטה מלאה בקוד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JSON ופלט מובנה ממודלי שפה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מהו JSON ולמה הוא ניצח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JavaScript Object Notation — פורמט טקסטואלי להעברת מידע מובנה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קריא מאוד לבני אדם, וקל מאוד למחשבים לפענח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החליף פורמטים מסורבלים יותר כמו XML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הפך לשפה האוניברסלית של עולם ה-API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שני מבנים בסיסיים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Object { } — זוגות מפתח-ערך (מקביל ל-dict בפייתון)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Array [ ] — רשימה סדורה (מקביל ל-list בפייתון)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טיפוסי ערך: מחרוזת, מספר, בוליאני, null, מערך, אובייקט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אפשר לקנן מבנים אחד בתוך השני לייצוג מידע מורכב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קריאת JSON בפייתון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ספריית json מובנית בפייתון — אין צורך להתקין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json.loads() — ממחרוזת בזיכרון (למשל תגובת API)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json.load() — מקובץ פתוח שנמצא על הדיסק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התוצאה בשני המקרים: dict / list פייתוני רגיל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כתיבת JSON בפייתון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json.dumps() — הופך אובייקט פייתוני למחרוזת JSON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json.dump() — כותב את האובייקט ישירות לקובץ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indent=4 — פלט קריא ומסודר עם הזחות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ensure_ascii=False — קריטי כדי לשמור עברית תקינה ולא ג׳יבריש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עבודה עם המבנה בפייתון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גישה עם סוגריים מרובעים, שרשור לגישה למבנים מקוננים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הוספה, עדכון ומחיקה של מפתחות; מעבר עם לולאת for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.get() מחזיר ערך ברירת מחדל במקום לזרוק שגיאה על מפתח חסר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שימושי במיוחד כשמעבדים תשובות API לא צפויות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JSON כפלט מובנה ממודלי שפה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ברירת המחדל של LLM היא טקסט חופשי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לאוטומציה מלאה אנחנו צריכים פורמט צפוי — JSON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לדוגמה: response_format=json_object ב-API של OpenAI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מבטיח פלט תקין תחבירית שתואם סכמה שהגדרנו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Pydantic — וולידציה של הפלט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לא מספיק ש-JSON תקין תחבירית — צריך גם שדות וטיפוסים נכונים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מגדירים "חוזה נתונים" כקלאס Python שיורש מ-BaseModel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Pydantic מוודאת שדות, ממירה טיפוסים וזורקת שגיאה ברורה כשמשהו לא תקין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סטנדרט דה-פקטו ביישומי AI מודרניים (Pydantic v2)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JSON כבסיס נתונים פשוט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לפרויקטים קטנים או קונפיגורציה — קובץ JSON יכול להחליף DB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התהליך: קוראים הכל לזיכרון → מעדכנים → כותבים הכל בחזרה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יתרון: פשטות מוחלטת, אין צורך בהתקנות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חיסרון: לא יעיל לקבצים גדולים ולא תומך בגישה מקבילית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2.4  |  JSON ופלט מובנה ממודלי שפה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שגיאות נפוצות ופתרונות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עברית מופיעה כג׳יבריש → חסר ensure_ascii=False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KeyError → יש להשתמש ב-.get() במקום גישה ישירה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ניסיון לגשת למחרוזת כאילו היא dict → שכחו json.loads()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JSONDecodeError → הטקסט שהתקבל אינו JSON תקין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Python Patterns לאוטומציה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למה פייתון היא כלי האוטומציה המרכזי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אקוסיסטם עצום: דאטה, ווב ובינה מלאכותית — הכל בשפה אחת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מחברת בקלות בין API של LLM, מסדי נתונים ושירותי מייל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"אוטומציה" בהייטק הישראלי = כמעט תמיד סקריפט Python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ביקוש גבוה ומשכורות גבוהות למפתחי אוטומציה בשוק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הכנת סביבת עבודה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Python 3.13 / 3.14 לביצועים משופרים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VS Code עם הרחבת Python הרשמית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סביבה וירטואלית (venv) — "חדר נקי" לכל פרויקט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מונעת התנגשויות בין גרסאות שונות של ספריות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אבני בניין של השפה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משתנים, טקסט, מספרים וערכים בוליאניים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רשימות (list) — אוסף מסודר של פריטים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מילונים (dict) — זוגות מפתח-ערך, כמעט זהה למבנה JSON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הדמיון dict ↔ JSON הוא מה שהופך את החיבור ל-API לטבעי כל כך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מבני בקרה ופונקציות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if — הרצת קוד בהתאם לתנאי (למשל, אם התקבלה תשובה מוצלחת)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for — מעבר על כל פריט ברשימה, למשל רשימת לקוחות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def — פונקציות לקוד נקי וניתן לשימוש חוזר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פרמטרים כקלט, return להחזרת תוצאה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GET ו-POST עם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pip install requests — הספרייה המרכזית לתקשורת HTTP בפייתון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GET — שליפת מידע (למשל, API של מזג אוויר)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POST — שליחת מידע ליצירת ישות או הפעלת תהליך, כמו קריאה למודל שפה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Body בפורמט JSON יחד עם Headers שמכילים את מפתח האימות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אבטחת סודות עם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אסור לעולם לשמור מפתחות API בתוך הקוד עצמו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קובץ .env לאחסון סודות — לא נכנס למערכת ניהול הגרסאות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python-dotenv טוען את המשתנים לסביבת הריצה של הסקריפט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os.getenv("KEY") מחזיר None בלי לקרוס אם המשתנה חסר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טיפול בשגיאות: try / except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קריאות רשת עלולות להיכשל — אינטרנט מתנתק, API נופל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קוד מסוכן בתוך try, טיפול בשגיאה בתוך except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מאפשר רישום שגיאה, ניסיון חוזר או סיום מבוקר של התהליך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קריטי לבניית אוטומציות אמינות בסביבת Production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שמירת תוצאות לקובץ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with open(...) לפתיחת קובץ במצב כתיבה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json.dump() כותב את המילון שהתקבל מה-API בצורה מסודרת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מאפשר תיעוד ועיבוד המשך של התוצאות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חלק טבעי מסיום כל תהליך אוטומציה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אוטומציה מקצה לקצה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1. טעינת מפתח ה-API בבטחה מקובץ .env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2. ביצוע קריאת POST ל-API של Claude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3. עטיפת הקריאה ב-try/except לטיפול בתקלות תקשורת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4. שמירת התשובה המלאה שהתקבלה לקובץ JSON מקומי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2.5  |  Python Patterns לאוטומציה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עיבוד באצווה (Batch) ושליחת דוח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לולאת for על רשימת "לידים" או שאלות — קריאה למודל עבור כל אחד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כללי אצבע: venv, קבצי .env, פונקציות, try/except, תיעוד ה-"למה"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smtplib לשליחת מייל אוטומטי עם התוצאות בסיום התהליך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סוגר את המעגל: מדאטה גולמי לתובנה מופצת בפועל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>
                <a:solidFill>
                  <a:srgbClr val="141B33"/>
                </a:solidFill>
                <a:latin typeface="Arial"/>
              </a:rPr>
              <a:t>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MCP — Model Context Protocol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הבעיה: ג׳ונגל ה-API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 שירות (Slack, GitHub, Google Drive) "מדבר" בשפה טכנית שונה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חיבור כל שירות חדש הוא פרויקט אינטגרציה נפרד וסיוט תחזוקה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אפילו חברות גדולות כמו monday.com משקיעות משאבים עצומים בכך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המצב הזה לא מאפשר צמיחה וחדשנות מהירה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מהו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Model Context Protocol — פרוטוקול פתוח לחיבור LLM לכלים חיצוניים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מכונה "USB-C של עולם ה-AI" — חיבור אחיד לכל דבר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הושק בנובמבר 2024, נתרם לקרן לינוקס להבטחת עתידו כסטנדרט פתוח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נתמך במלואו על ידי OpenAI, Google ו-Microsoft; עשרות מיליוני הורדות SDK בחודש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ארכיטקטורת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Host — האפליקציה הראשית שהמשתמש עובד איתה (למשל Claude Desktop)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Client — הרכיב בתוך ה-Host שיודע "לדבר" MCP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Server — הכלי או השירות שאנחנו רוצים לחבר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זרימה: פרומפט → Client → Server → תוצאה → LLM → תשובה סופית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שלושה סוגי תוכן שהשרת מספק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Tools — פעולות שהמודל יכול להפעיל, למשל שליחת מייל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Resources — מקורות מידע לקריאה, כמו מסמכים ונתונים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Prompts — תבניות פרומפט מוכנות מראש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בהקשר ישראלי: Fiverr יכולה לחשוף כלים לפרילנסרים, Wix למשאבי אתרי לקוח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אקוסיסטם צומח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מעל 5,000 שרתי MCP קהילתיים ופתוחים כיום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78% מצוותי AI בארגונים גדולים כבר השתמשו ב-MCP בפרודקשן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שרתים מוכנים להתקנה בלחיצת כפתור: GitHub, Slack, Postgres, Notion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חוסך אינספור שעות פיתוח אינטגרציות מאפס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חיבור שרת קיים ל-Claude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הגדרות → הוספת שרת MCP → הדבקת כתובת השרת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ה-Client סורק את השרת אוטומטית ומגלה tools / resources / prompts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אין צורך בקונפיגורציה ידנית נוספת מעבר לכך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תרגול לדוגמה: שרת filesystem לגישה לקבצים מקומיים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בניית שרת עצמי עם FastMCP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לכל ארגון יש מערכות פנימיות ייחודיות ללא שרת קהילתי קיים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FastMCP (גרסה 3.0) הופך פונקציית Python רגילה לכלי MCP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דקורטור @mcp.tool מעל הפונקציה — זה כל מה שצריך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ה-docstring הוא ה-"API" שלכם מול ה-LLM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אנטומיה של שרת FastMCP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from fastmcp import FastMCP; mcp = FastMCP(...)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הגדרת חתימת פונקציה ברורה עם type hints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docstring מפורט = "מתכנתים" את המודל איך להשתמש בכלי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הרצה עם uvicorn או הפקודה הייעודית של fastmcp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תרגול: מחשבון מע"מ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כלי calculate_vat_and_total עם שיעור מע"מ קבוע של 17%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מודל Pydantic (VatResult) להבטחת פלט מובנה וצפוי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חיבור לקלוד דסקטופ ובדיקה בשאלות בעברית ובאנגלית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דוגמה מוחשית לכמה מעט קוד נדרש כדי לבנות כלי שימושי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MCP מול API מסורתי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API מסורתי נבנה עבור מפתחים — קשיח ודורש קריאות מדויקות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MCP נבנה עבור בינה מלאכותית — גילוי עצמי של יכולות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תיאור סמנטי דרך docstring במקום תיעוד קשיח וסטטי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גמישות בקלט הודות לעיבוד שפה טבעית — כמו מפה מול GPS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פרק 2.6  |  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השפעה עסקית ומבט לעתיד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מאיץ פיתוח פרוטוטייפים מבוססי AI ומייצר סטנדרטיזציה של כישורים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פותח דלת לקטגוריות מוצר חדשות, כמו App Store מבוסס MCP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הזדמנות לפרילנסרים ישראלים (Fiverr) לבניית שרתים מותאמים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מפת דרכים 2026: Stateless Operation, תקשורת בין סוכנים, יכולות Enterprise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011680" cy="54864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E87A3D"/>
                </a:solidFill>
                <a:latin typeface="Arial"/>
              </a:rPr>
              <a:t>סיכום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סיכום פרק 2 — מה בנינו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הבנו את שפת ה-API: HTTP, REST ושיטות אימות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דיברנו ישירות עם Claude, OpenAI ו-Gemini, כולל Tool Use ו-Streaming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הפכנו את כיוון התקשורת עם Webhooks — Push במקום Pull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שלטנו ב-JSON כשפת התקשורת האוניברסלית, כולל וולידציה עם Pydantic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בנינו אוטומציות שלמות בפייתון מקצה לקצה</a:t>
            </a:r>
          </a:p>
          <a:p>
            <a:pPr algn="r" rtl="1">
              <a:spcAft>
                <a:spcPts val="1600"/>
              </a:spcAft>
            </a:pPr>
            <a:r>
              <a:rPr sz="2000" b="0">
                <a:solidFill>
                  <a:srgbClr val="20232E"/>
                </a:solidFill>
                <a:latin typeface="Arial"/>
              </a:rPr>
              <a:t>◀  חיברנו הכל דרך MCP — הפרוטוקול הפתוח לעולם ה-AI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
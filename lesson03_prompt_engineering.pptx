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השיעור הכי חשוב במודול אפס. כל מה שנבנה לאחר מכן — אוטומציות, צ'אטבוטים, אייג'נטים — יושב על פרומפטים.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שיעור ארוך — ודאו שיש הפסקות בין החלקים.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הדגש: אותו מודל, שתי תוצאות שונות לגמרי. הבדל? הפרומפט בלבד.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R-T-C-F: ארבע שאלות. מי? מה? למה? איך? ענה על כולן ותקבל תוצאה טובה.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Mindset = חובה לכל מי שבונה מוצרי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Zero-Shot + RTCF מכסים 80% מהמקרים. ה-20% הנותרים — זה ה-toolkit.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Few-Shot: מראים לAI מה מצפים ממנו. כמו לתת לעובד חדש דוגמאות עבודה.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CoT = הוסיפו משפט אחד. ToT = שמורו לאסטרטגיה בלבד.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Self-Consistency: אם שלוש תשובות זהות — ביטחון גבוה. אם שונות מאוד — לחקור עוד.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הטבלה הזו = ה-cheat sheet של הקורס. שמרו אותה.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Prompt = ה-contract עם ה-AI. כל מוצר מתחיל כאן.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Thinking → Adaptive Thinking. שינוי שם, שיפור יכולות. מ-2026 זה הסטנדרט.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 Engineering = משפט אחד. Context Engineering = כל הסביבה. נבנה על זה במודולים 2 ו-5.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Lost in the Middle: מחקר קיים, ממשי. מיקום בפרומפט הוא לא עיצוב — הוא ביצועים.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ספריית הפרומפטים = ה-deliverable של מודול 0. 10 פרומפטים, RTCF, מודל מומלץ, output לדוגמה.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שיעור 0.3 — השיעור הכי חשוב במודול. הכל מכאן בנוי על פרומפטים.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474720"/>
            <a:ext cx="3200400" cy="32004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קורס AI Engineer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כתיבת פרומפטים אפקטיביים — האמנות והמדע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74720" y="2834640"/>
            <a:ext cx="2194560" cy="475488"/>
          </a:xfrm>
          <a:prstGeom prst="roundRect">
            <a:avLst>
              <a:gd name="adj" fmla="val 26923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8346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9300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dirty="0">
                <a:solidFill>
                  <a:srgbClr val="99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שעות אקדמיות | השיעור הארוך ביותר במודול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נלמד היום?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חלקים | 4 שעות אקדמיות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07808" y="118872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07808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זה פרומפט ולמה זה הכי חשוב בקורס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07808" y="181051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07808" y="1810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1810512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נוסחת RTCF + Casual לעומת Production Prompting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11480" y="2359152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07808" y="243230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432304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טכניקות — מ-Zero-Shot עד Self-Consistency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11480" y="2980944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07808" y="305409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07808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054096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ה-DNA של כל מוצר AI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11480" y="3602736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07808" y="36758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07808" y="3675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675888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+ Context Engineering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" y="4224528"/>
            <a:ext cx="83210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07808" y="4297680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07808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297680"/>
            <a:ext cx="68762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ובניית ספריית פרומפטים אישית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הפרומפט הוא הכל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אותו מודל, תוצאות שונות לגמרי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07008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33101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אדם א':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1572768"/>
            <a:ext cx="3218688" cy="658368"/>
          </a:xfrm>
          <a:prstGeom prst="roundRect">
            <a:avLst>
              <a:gd name="adj" fmla="val 11111"/>
            </a:avLst>
          </a:prstGeom>
          <a:solidFill>
            <a:srgbClr val="FEECEC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572768"/>
            <a:ext cx="32186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"כתוב לי אימייל."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286000"/>
            <a:ext cx="3218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גנרית, לא שימושית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15568"/>
            <a:ext cx="4069080" cy="2395728"/>
          </a:xfrm>
          <a:prstGeom prst="roundRect">
            <a:avLst>
              <a:gd name="adj" fmla="val 381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73168" y="1207008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2070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56048" y="1207008"/>
            <a:ext cx="36210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אדם ב':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56048" y="16276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את/ה מנהל/ת שיווק ב-B2B SaaS.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56048" y="20116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כתוב/י מייל מעקב ללקוח שנפגשנו איתו בכנס.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56048" y="239572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טון: מקצועי אבל חם. אורך: 5-7 שורות.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56048" y="2779776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כולל CTA ברור אחד.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182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תוצאה: מדויקת, שימושית, שמורה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675888"/>
            <a:ext cx="8321040" cy="1188720"/>
          </a:xfrm>
          <a:prstGeom prst="roundRect">
            <a:avLst>
              <a:gd name="adj" fmla="val 9231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65008" y="385876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65008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785616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המסקנה המחקרית: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4133088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רוב הכשלונות עם AI נובעים מחוסר בהירות בפרומפט — לא ממגבלות המודל.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נוסחת RTCF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הפורמולה שעובדת בכמעט כל מצב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0" y="12618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6C63FF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12618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394960" y="1225296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תפקיד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225296"/>
            <a:ext cx="4681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"את/ה מומחה/ית לשיווק דיגיטלי עם 10 שנות ניסיון ב-e-commerce."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589520" y="21762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0" y="21762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139696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— משימה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" y="2139696"/>
            <a:ext cx="4681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"כתוב/י 3 וריאציות של מייל פרסומי."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9443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0" y="30906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0" y="30906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94960" y="3054096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הקשר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054096"/>
            <a:ext cx="4681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"חנות תכשיטים אונליין | קהל: נשים 25-45."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3858768"/>
            <a:ext cx="8321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4005072"/>
            <a:ext cx="640080" cy="512064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400507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94960" y="3968496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פורמט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968496"/>
            <a:ext cx="468172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"כל וריאציה עד 5 שורות + שורת נושא."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800600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8006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טיפ מחקרי 2026: אורך אופטימלי 150-300 מילים | מעל 3,000 טוקנים — איכות יורדת | שפה אגרסיבית מזיקה לביצועים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לעומת Production Prompting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שני עולמות שונים לגמרי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1572768"/>
          </a:xfrm>
          <a:prstGeom prst="roundRect">
            <a:avLst>
              <a:gd name="adj" fmla="val 5814"/>
            </a:avLst>
          </a:prstGeom>
          <a:solidFill>
            <a:srgbClr val="E0FA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2618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Prompting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7007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שימוש אישי — GPT, Claude, Gemini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3852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שגיאה? מתקנים מיד ביד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762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נסיוני ומסלח — הסיכון נמוך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80%+ מהשימוש היומיומי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126187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Prompting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92040" y="170078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חלק ממערכת — API, בוט, אוטומציה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1938528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רץ אלפי פעמים ביום ללא מפקח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17627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תוצאה גרועה בסקייל = בעיה אמיתית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41401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חייב להיות מבוצע בצורה מדויקת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2798064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כללי Production Prompting: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07408" y="3182112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699248" y="322783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9248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44568" y="32004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44568" y="3419856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שמרו גרסאות + changelog לכל שינוי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3182112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03320" y="3227832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200400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First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419856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הריצו 20-50 דוגמאות לפני העלייה לאוויר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07408" y="3749040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699248" y="379476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44568" y="37673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44568" y="3986784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מובנה — לא טקסט חופשי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11480" y="3749040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03320" y="37947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3767328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3986784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תכננו fallback לכל תוצאה לא צפויה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07408" y="4315968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699248" y="436168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9924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44568" y="43342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544568" y="455371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חשבו עלות לפני — טוקנים × מחיר × נפח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11480" y="4315968"/>
            <a:ext cx="3858768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703320" y="436168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8640" y="4334256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Monitor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" y="455371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מודלים מתעדכנים — עקבו אחרי שיעורי שגיאה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טכניקות — מהפשוטה למורכבת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טכניקה נוספת על הקודמת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07408" y="111556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99248" y="1435608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9924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44568" y="122529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44568" y="159105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ישר לעסקים, ללא דוגמאות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44568" y="190195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44568" y="1901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מהמקרים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11556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03320" y="1435608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122529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159105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דוגמאות מגוונות לפני הבקשה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190195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19019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גבוה מאוד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07408" y="239572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99248" y="2715768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9248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44568" y="250545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44568" y="287121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מחשבה צעד אחרי צעד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44568" y="318211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31821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דיוק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39572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03320" y="271576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03320" y="2715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250545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287121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 חשיבה מקבילים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318211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821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החלטות קריטיות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07408" y="367588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699248" y="399592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99248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44568" y="378561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44568" y="415137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תפקיד ספציפי ומפורט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44568" y="446227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4544568" y="44622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מרכיב חובה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11480" y="3675888"/>
            <a:ext cx="3858768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703320" y="3995928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03320" y="3995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3785616"/>
            <a:ext cx="2971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548640" y="4151376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תשובות + השוואה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4462272"/>
            <a:ext cx="2286000" cy="219456"/>
          </a:xfrm>
          <a:prstGeom prst="roundRect">
            <a:avLst>
              <a:gd name="adj" fmla="val 25000"/>
            </a:avLst>
          </a:prstGeom>
          <a:solidFill>
            <a:srgbClr val="F3F4F6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446227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לא-ודאות גבוהה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ו-Few-Shot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הטכניקות הבסיסיות ביותר — ולעתים הטובות ביותר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21608" y="1261872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ללא דוגמאות — תמיד מתחילים כאן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658368"/>
          </a:xfrm>
          <a:prstGeom prst="roundRect">
            <a:avLst>
              <a:gd name="adj" fmla="val 11111"/>
            </a:avLst>
          </a:prstGeom>
          <a:solidFill>
            <a:srgbClr val="DCFCE7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29968"/>
            <a:ext cx="34930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"סווג את הטקסט הבא כחיובי, שלילי או נייטרלי: 'הפיצה הייתה טעימה אבל השירות היה איטי.'"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798064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מתאים ל-80% מהמקרים האמיתיים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108960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סיווג, תרגום, סיכום, כתיבה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19856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זול! — חוסך טוקנים ועלות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73075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תמיד נסו Zero-Shot קודם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E0FA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61872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דוגמאות → דיוק גבוה בהרבה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3712464" cy="914400"/>
          </a:xfrm>
          <a:prstGeom prst="roundRect">
            <a:avLst>
              <a:gd name="adj" fmla="val 8000"/>
            </a:avLst>
          </a:prstGeom>
          <a:solidFill>
            <a:srgbClr val="CFF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048256"/>
            <a:ext cx="3566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1: 'המוצר הגיע שבור' → תלונה, דחיפות גבוהה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2: 'מתי תהיה מבצע?' → שאלה, דחיפות נמוכה</a:t>
            </a:r>
            <a:endParaRPr lang="en-US" sz="1000" dirty="0"/>
          </a:p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דוגמה 3: 'אני רוצה לבטל' → ביטול, דחיפות בינונית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ROI גבוה ביותר — השקעה קטנה, תועלת גדולה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3328416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Sonnet 4.6: עטוף בתגי XML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639312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GPT-5.5: Markdown headers עובד מצוין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0208"/>
            <a:ext cx="3730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דוגמאות מגוונות &gt; דוגמאות דומות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 ו-Tree of Thought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חשיבה מפורשת — מתי ואיך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21608" y="1261872"/>
            <a:ext cx="475488" cy="47548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 דיוק במשימות מורכבות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530352"/>
          </a:xfrm>
          <a:prstGeom prst="roundRect">
            <a:avLst>
              <a:gd name="adj" fmla="val 13793"/>
            </a:avLst>
          </a:prstGeom>
          <a:solidFill>
            <a:srgbClr val="E9D5FF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048256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"...מה הרווח הנקי? חשב/י צעד אחרי צעד."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2633472"/>
            <a:ext cx="3621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CoT — הסיפא הקסומה: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3621024" cy="292608"/>
          </a:xfrm>
          <a:prstGeom prst="roundRect">
            <a:avLst>
              <a:gd name="adj" fmla="val 18750"/>
            </a:avLst>
          </a:prstGeom>
          <a:solidFill>
            <a:srgbClr val="6C63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92608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"חשב/י צעד אחרי צעד"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310128"/>
            <a:ext cx="362102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חשוב: אם המודל עובד ב-Reasoning Mode (Adaptive Thinking / GPT Thinking) — אל תוסיפו CoT! הוא כבר עושה את זה פנימית.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F5F3FF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261872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מסלולי חשיבה מקבילים — יקר אבל רב-עוצמה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993392"/>
            <a:ext cx="3712464" cy="640080"/>
          </a:xfrm>
          <a:prstGeom prst="roundRect">
            <a:avLst>
              <a:gd name="adj" fmla="val 11429"/>
            </a:avLst>
          </a:prstGeom>
          <a:solidFill>
            <a:srgbClr val="EDE9FE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048256"/>
            <a:ext cx="3566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"שקול 3 כיוונים עסקיים שונים לחלוטין. לכל אחד: יתרונות, חסרונות, סיכוי הצלחה. אחר כך המלץ."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743200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היתרון?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962656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חוקר מסלולים מרובים לפני הסגירה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255264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החיסרון?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474720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צורך הרבה טוקנים = עלות גבוהה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767328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להשתמש?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986784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החלטות גבוהות-סיכון בלבד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79392"/>
            <a:ext cx="3712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לא?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4498848"/>
            <a:ext cx="3712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מהמקרים — CoT מספיק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ו-Self-Consistency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הטכניקות האחרונות בארסנל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77640" cy="3675888"/>
          </a:xfrm>
          <a:prstGeom prst="roundRect">
            <a:avLst>
              <a:gd name="adj" fmla="val 2985"/>
            </a:avLst>
          </a:prstGeom>
          <a:solidFill>
            <a:srgbClr val="FFFBEB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21608" y="12618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61872"/>
            <a:ext cx="29443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ככל שהתפקיד ספציפי יותר — התוצאה טובה יותר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93392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66160" y="2066544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066544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חלש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8368" y="2066544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"את/ה עוזר/ת."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2798064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2871216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871216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2871216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"את/ה מומחה/ית לשיווק."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602736"/>
            <a:ext cx="3621024" cy="713232"/>
          </a:xfrm>
          <a:prstGeom prst="roundRect">
            <a:avLst>
              <a:gd name="adj" fmla="val 10256"/>
            </a:avLst>
          </a:prstGeom>
          <a:solidFill>
            <a:srgbClr val="FFFBEB"/>
          </a:solidFill>
          <a:ln/>
        </p:spPr>
      </p:sp>
      <p:sp>
        <p:nvSpPr>
          <p:cNvPr id="20" name="Shape 18"/>
          <p:cNvSpPr/>
          <p:nvPr/>
        </p:nvSpPr>
        <p:spPr>
          <a:xfrm>
            <a:off x="3566160" y="3675888"/>
            <a:ext cx="530352" cy="256032"/>
          </a:xfrm>
          <a:prstGeom prst="roundRect">
            <a:avLst>
              <a:gd name="adj" fmla="val 21429"/>
            </a:avLst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675888"/>
            <a:ext cx="530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מצוין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8368" y="3675888"/>
            <a:ext cx="27980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"את/ה מנהל/ת שיווק דיגיטלי ב-B2B SaaS עם 5 שנות ניסיון, מתמחה לקמפיינים של SMB ו-email optimization."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4462272"/>
            <a:ext cx="3621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Prompting: חלק חובה מכל System Prompt שכותבים.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115568"/>
            <a:ext cx="4069080" cy="3675888"/>
          </a:xfrm>
          <a:prstGeom prst="roundRect">
            <a:avLst>
              <a:gd name="adj" fmla="val 2985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1261872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65008" y="1261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1261872"/>
            <a:ext cx="3035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846320" y="16642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מספר תשובות + הצלבה — אידיאלי לאי-ודאות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993392"/>
            <a:ext cx="3712464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2048256"/>
            <a:ext cx="3566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"ספק/י 3 תשובות שונות לשאלה הבאה, כל אחת עם גישת חשיבה שונה. לאחר מכן זהה/י מי הכי חזקה ומדוע."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81635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זה נחוץ?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163824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ניתוח משפטי — כשיש פרשנויות מרובות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11296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החלטות עסקיות — כשרמת הסיכון גבוהה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858768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אבחון טכני — כשהבעיה לא מוגדרת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4206240"/>
            <a:ext cx="3730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סיגנל: אם 3 תשובות שונות — השאלה לא ברורה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סיכום 6 הטכניקות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לבחור ומתי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347472"/>
          </a:xfrm>
          <a:prstGeom prst="roundRect">
            <a:avLst>
              <a:gd name="adj" fmla="val 15789"/>
            </a:avLst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15568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1155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17720" y="1115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מיועד 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93408" y="111556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1499616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149961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149961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תמיד קודם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14996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סיווג, תרגום, כתיבה, סיכום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93408" y="1499616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זול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066544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13969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39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2066544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2066544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כשצריך עקביות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206654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משימה חוזרת + קלאסיפיקציה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93408" y="2066544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633472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70662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68680" y="263347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of Thought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834640" y="2633472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בלי Reasoning Mode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17720" y="26334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חישובים, לוגיקה, ניתוח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93408" y="2633472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בינוני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3200400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27355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273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320040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of Thought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834640" y="32004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החלטות קריטיות בלבד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17720" y="32004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אסטרטגיה, ארכיטקטורה, השקעות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93408" y="3200400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יקר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11480" y="3767328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" y="376732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834640" y="3767328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תמיד — בכל פרומפט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17720" y="376732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חלק חובה מכל System Prompt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693408" y="3767328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חינם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11480" y="4334256"/>
            <a:ext cx="8321040" cy="530352"/>
          </a:xfrm>
          <a:prstGeom prst="rect">
            <a:avLst/>
          </a:prstGeom>
          <a:solidFill>
            <a:srgbClr val="F0F0F8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" y="4407408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68680" y="4334256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834640" y="4334256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אי-ודאות גבוהה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617720" y="433425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משפטי, עסקי, רפואי, טכני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93408" y="4334256"/>
            <a:ext cx="804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יקר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11480" y="4937760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55" name="Text 53"/>
          <p:cNvSpPr/>
          <p:nvPr/>
        </p:nvSpPr>
        <p:spPr>
          <a:xfrm>
            <a:off x="502920" y="4937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+ RTCF מכסים 80% | הטכניקות המתקדמות הן ה-20% הנותרים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ה-DNA של כל מוצר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ההגדרה שקובעת איך ה-AI מתנהג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= הוראת קבע שמגדירה את התנהגות ה-AI לכל השיחה. ב-ChatGPT: Custom Instructions. ב-Claude: פרמטר system. ב-API: הבסיס של כל מוצר.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865376"/>
            <a:ext cx="402336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65008" y="2011680"/>
            <a:ext cx="457200" cy="457200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500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28032" y="197510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מי זה ה-AI?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28032" y="237744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243230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"את/ה נציג/ת שירות לקוחות בסוכנות שיווק דיגיטלי."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1865376"/>
            <a:ext cx="402336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13048" y="201168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13048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" y="197510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מה תשובה טובה?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" y="237744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43230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"תשובה מוצלחת עונה בבהירות בשתי משפטים או פחות."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328416"/>
            <a:ext cx="402336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65008" y="347472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6500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4381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— מה אסור?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28032" y="384048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389534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"לעולם אל תמציא מידע. אם אינך בטוח — אמר/י זאת."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3328416"/>
            <a:ext cx="4023360" cy="1316736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13048" y="34747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3438144"/>
            <a:ext cx="30906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— איך להציג?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6072" y="3840480"/>
            <a:ext cx="3621024" cy="658368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3895344"/>
            <a:ext cx="34381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"החזר JSON עם 3 שדות: answer, confidence, source."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882896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EEEE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8828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4.6: עטוף בתגי XML (instructions, context, rules) | GPT-5.5: Markdown headers | לכולם: אפשרו לAI להגיד 'אני לא בטוח' — מפחית הזיות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— Reasoning מובנה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ה-AI חושב בעצמו | 2025-2026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621792"/>
          </a:xfrm>
          <a:prstGeom prst="roundRect">
            <a:avLst>
              <a:gd name="adj" fmla="val 14706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115568"/>
            <a:ext cx="7955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 (Claude Sonnet 4.6 + Opus 4.7): המודל מעריך את מורכבות הבעיה ומחליט כמה מאמץ הוא מקצה לה. ניתן לכוון: standard / high / maximum — ללא צורך בתקציב טוקנים ידני.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EEE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120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Opus 4.7 למשימות מורכבות ביותר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Sonnet 4.6 לעבודה יומיומית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120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מיליון טוקנים context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1012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GPT-5.5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Mode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012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מראה תוכנית חשיבה לפני התשובה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1012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ניתן להפנות בזמן החשיבה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012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מודל אחד עם כל היכולות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865376"/>
            <a:ext cx="2633472" cy="1572768"/>
          </a:xfrm>
          <a:prstGeom prst="roundRect">
            <a:avLst>
              <a:gd name="adj" fmla="val 5814"/>
            </a:avLst>
          </a:prstGeom>
          <a:solidFill>
            <a:srgbClr val="EAF1F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99048" y="1920240"/>
            <a:ext cx="241401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Pro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099048" y="2249424"/>
            <a:ext cx="241401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99048" y="2514600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מיליון טוקנים 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9048" y="2807208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אינטגרציית Workspace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99048" y="3099816"/>
            <a:ext cx="2414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ARC-AGI-2: 77.1%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566160"/>
            <a:ext cx="3977640" cy="1325880"/>
          </a:xfrm>
          <a:prstGeom prst="roundRect">
            <a:avLst>
              <a:gd name="adj" fmla="val 689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21608" y="371246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21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3712464"/>
            <a:ext cx="2944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להשתמש ב-Reasoning?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מתמטיקה ולוגיקה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" y="4288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ניפוי קוד מורכב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ניתוח רב-שלבי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" y="4727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החלטות קריטיות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566160"/>
            <a:ext cx="4069080" cy="1325880"/>
          </a:xfrm>
          <a:prstGeom prst="roundRect">
            <a:avLst>
              <a:gd name="adj" fmla="val 689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65008" y="3712464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650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3712464"/>
            <a:ext cx="3035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מתי לא?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06908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כתיבת מייל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288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סיכום מסמך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פוסט לרשתות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46320" y="47274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שאלות פשוטות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11480" y="4974336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EEE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4974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 הזהב: בReasonning Mode — אל תוסיפו 'חשב צעד אחרי צעד'. המודל כבר עושה CoT פנימית.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— השלב הבא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מעבר לפרומפט: עיצוב הסביבה המלאה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877824"/>
          </a:xfrm>
          <a:prstGeom prst="roundRect">
            <a:avLst>
              <a:gd name="adj" fmla="val 10417"/>
            </a:avLst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73568" y="1243584"/>
            <a:ext cx="493776" cy="493776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73568" y="12435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1704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Andrej Karpathy: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463040"/>
            <a:ext cx="7223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"האמנות העדינה של מילוי חלון ה-Context במידע הנכון בדיוק לשלב הבא." — הגדרת Context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121408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65008" y="229514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5008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28032" y="221284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52374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ההוראות הקבועות — תפקיד, כללים, פורמט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31912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28032" y="31089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היסטוריית שיחה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41985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מה שנאמר בסשן הנוכחי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913632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65008" y="408736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65008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4005072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מסמכים מצורפים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4315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קבצים, טבלאות, חומר רקע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2121408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13048" y="24414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" y="2212848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כלים זמינים (Tools)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6072" y="2578608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שליחת מייל, שאילתת CRM, קריאת DB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11480" y="3474720"/>
            <a:ext cx="4023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813048" y="37947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13048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" y="3566160"/>
            <a:ext cx="3090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זיכרון + RAG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76072" y="39319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מידע שנמשך מבסיס ידע לפי רלוונטיות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" y="4882896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FFFBEB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8828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40% מהאפליקציות הארגוניות יכללו AI Agents בסוף 2026 | 80% מכשלי AI יגיעו מניהול context גרוע — לא ממגבלות מודל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— מלכודות ופתרונות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מעשי של חלון ה-Context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35824" y="1463040"/>
            <a:ext cx="457200" cy="4572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358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the Middle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הבעיה: מודלים זוכרים תחילה וסוף — המידע באמצע 'נשכח'. מאושר גם בחלונות &gt;128K טוקנים.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הפתרון: הוראות קריטיות: בתחילת ה-System Prompt | דוגמאות Few-Shot: בסוף הפרומפט, לפני הבקשה ממש.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2414016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35824" y="276148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505456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2852928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הבעיה: ככל שהשיחה מתארכת ומלאה יותר את ה-Context Window — הדיוק של המודל יורד בהדרגה.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200400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הפתרון: Compaction אוטומטי: Claude מפעיל סיכום כשמגיעים ל-~80% מהחלון. תכנן לכך מראש בשיחות ארוכות.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712464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35824" y="4059936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35824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3803904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עלויות Token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4151376"/>
            <a:ext cx="69677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הבעיה: System Prompt ארוך + היסטוריה ארוכה + מסמכי RAG = עלות גבוהה. המשוואה: טוקנים × מחיר × נפח = עלות חודשית.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4498848"/>
            <a:ext cx="69677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הפתרון: כתבו System Prompts קצרים ומדויקים | נקו היסטוריה לא רלוונטית | חשבו את עלות ה-token לפני העלייה לאוויר.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5029200"/>
            <a:ext cx="8321040" cy="256032"/>
          </a:xfrm>
          <a:prstGeom prst="roundRect">
            <a:avLst>
              <a:gd name="adj" fmla="val 21429"/>
            </a:avLst>
          </a:prstGeom>
          <a:solidFill>
            <a:srgbClr val="E0FAFF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5029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כלל: הוראות קריטיות בהתחלה | דוגמאות בסוף | Compaction לשיחות ארוכות | תמיד חשב token budget לפני הפצה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097280" cy="329184"/>
          </a:xfrm>
          <a:prstGeom prst="roundRect">
            <a:avLst>
              <a:gd name="adj" fmla="val 22222"/>
            </a:avLst>
          </a:prstGeom>
          <a:solidFill>
            <a:srgbClr val="6C63FF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שיעור 0.3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8288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ספריית הפרומפטים האישית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פרויקט המודול — ה-toolkit המקצועי שלכם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פרומפט בספרייה צריך 6 רכיבים: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517904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65008" y="159105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6500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28032" y="155448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7922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שם מתאר ומזכיר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517904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13048" y="1591056"/>
            <a:ext cx="384048" cy="38404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13048" y="1591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" y="1554480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מטרה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" y="179222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המשימה שהפרומפט מבצע?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2139696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21284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6500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28032" y="217627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הפרומפט עצמו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28032" y="24140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עם RTCF + הטכניקה הנכונה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2139696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13048" y="22128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13048" y="2212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" y="2176272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טכניקה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76072" y="241401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/ Few-Shot / CoT / 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761488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65008" y="283464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6500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28032" y="279806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מודל מומלץ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28032" y="30358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 / Claude Sonnet / Opus / Gemini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2761488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813048" y="2834640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1304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76072" y="2798064"/>
            <a:ext cx="2944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 לדוגמה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6072" y="303580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תדביקו output אמיתי לצורך השוואה עתידית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43814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פרומפטים להתחיל איתם: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11480" y="3767328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EEEEFF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376732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מייל מכירות | סיכום פגישה | ניתוח מתחרים | פוסט לרשתות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1480" y="4151376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0F0F8"/>
          </a:solidFill>
          <a:ln/>
        </p:spPr>
      </p:sp>
      <p:sp>
        <p:nvSpPr>
          <p:cNvPr id="41" name="Text 39"/>
          <p:cNvSpPr/>
          <p:nvPr/>
        </p:nvSpPr>
        <p:spPr>
          <a:xfrm>
            <a:off x="594360" y="4151376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מסווג פניות לקוחות | מחולל הצעות מחיר | System Prompt לצ'אטבוט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1480" y="453542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EEEEFF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535424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מגבה תוכן SEO | מנתח ביקורות לקוחות | מחולל פרומפטים לתמונות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11480" y="4974336"/>
            <a:ext cx="8321040" cy="292608"/>
          </a:xfrm>
          <a:prstGeom prst="roundRect">
            <a:avLst>
              <a:gd name="adj" fmla="val 18750"/>
            </a:avLst>
          </a:prstGeom>
          <a:solidFill>
            <a:srgbClr val="ECFDF5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97433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הפלטפורמה: Google Docs / Notion / כל פורמט שנוח לכם. הכלי פחות חשוב מהמשמעת.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6C63FF">
              <a:alpha val="1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מה למדנו היום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0" y="896112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73568" y="107899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7356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09160" y="969264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RTCF — Role, Task, Context, Format: הנוסחה שמשפרת כל פרומפט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773936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73568" y="195681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73568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09160" y="1847088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 Production: version control, JSON, testing, monitoring, token cost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973568" y="283464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7356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2724912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+ Few-Shot: מכסים 80% | CoT + ToT: לחשיבה מורכבת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529584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73568" y="371246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7356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09160" y="3602736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Prompting + Self-Consistency: חלק חובה מכל System Prompt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896112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58768" y="1078992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58768" y="1078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969264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Prompts: Role, Success, Constraints, Format — ה-DNA של כל מוצר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1773936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58768" y="1956816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58768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1847088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Thinking: Reasoning מובנה — מתי כן ומתי לא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651760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58768" y="2834640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5876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" y="2724912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Engineering: System Prompt + היסטוריה + מסמכים + כלים + RAG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529584"/>
            <a:ext cx="3950208" cy="749808"/>
          </a:xfrm>
          <a:prstGeom prst="roundRect">
            <a:avLst>
              <a:gd name="adj" fmla="val 12195"/>
            </a:avLst>
          </a:prstGeom>
          <a:solidFill>
            <a:srgbClr val="2E2E52"/>
          </a:solidFill>
          <a:ln/>
          <a:effectLst>
            <a:outerShdw sx="100000" sy="100000" kx="0" ky="0" algn="bl" rotWithShape="0" blurRad="152400" dist="5080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58768" y="3712464"/>
            <a:ext cx="384048" cy="384048"/>
          </a:xfrm>
          <a:prstGeom prst="ellipse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58768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3602736"/>
            <a:ext cx="31272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E8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Management: Lost in Middle, Context Rot, עלויות — 3 מלכודות + פתרונות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4348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6C63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4348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מודול 1 — </a:t>
            </a:r>
            <a:pPr algn="ctr" indent="0" marL="0">
              <a:buNone/>
            </a:pPr>
            <a:r>
              <a:rPr lang="en-US" sz="1400" dirty="0">
                <a:solidFill>
                  <a:srgbClr val="D4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Automations: Make.com | בניית אוטומציה ראשונה מאפס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בינתיים: בנו את ספריית הפרומפטים האישית. 10 פרומפטים, RTCF, מודל מומלץ.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שיעור 0.3 - Prompt Engineering</dc:title>
  <dc:subject>PptxGenJS Presentation</dc:subject>
  <dc:creator>TovTech</dc:creator>
  <cp:lastModifiedBy>TovTech</cp:lastModifiedBy>
  <cp:revision>1</cp:revision>
  <dcterms:created xsi:type="dcterms:W3CDTF">2026-06-17T06:12:08Z</dcterms:created>
  <dcterms:modified xsi:type="dcterms:W3CDTF">2026-06-17T06:12:08Z</dcterms:modified>
</cp:coreProperties>
</file>